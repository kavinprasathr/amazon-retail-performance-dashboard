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Introduces the project 'Amazon Fresh Analytics' — a SQL-driven retail analytics project covering Customers, Orders, Products, Reviews, and Suppliers, supported by a Power BI dashboard. Presented by Kavinprasath.R. Key point: sets the scope as an end-to-end data analysis project from raw data to 360° business insights.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Explains the project purpose and analytical focus. Key points — (1) The project analyzes customers, orders, products, reviews, and suppliers using SQL. (2) Analytical focus is on customer spending, product sales, ratings, Prime membership, and supplier data. (3) SQL is used to retrieve, clean, transform, and analyze data. (4) Business outcome is to generate insights that support better decision-making across five core themes: Customer Value, Product Sales, Ratings, Prime Members, and Supplier Insights.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Statement: Explains why structured analytics is needed. Key points — (1) Data Complexity: large e-commerce datasets are hard to analyze manually. (2) Business Questions: need to identify high-value customers, top-selling products, and popular categories. (3) Data Quality: issues like duplicate names, invalid ages, and invalid ratings affect analysis accuracy. (4) Project Goal: use SQL to organize data, ensure integrity, and extract actionable insights.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Approach: Describes the six-step SQL methodology. Key points — (1) Database: create and retrieve data from Amazon Fresh tables. (2) Query: use WHERE, GROUP BY, HAVING, ORDER BY to filter and summarize. (3) Calculate: apply SUM, COUNT, AVG for business metrics. (4) Combine: use JOINs and subqueries for complex questions. (5) Rank: use RANK() to rank customers by spending. (6) Normalize: move category data toward 3NF using a separate Category table. Overall flow: SQL → Clean Structure → Analysis → Ranking → Business Insight.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Summarizes the key analytical outcomes. Key points — (1) Customer Value: high-value customers (&gt;₹5,000 spend) identified and ranked. (2) Product Performance: top 3 products by revenue identified. (3) Category Demand: top 3 most-ordered categories found. (4) Prime Analysis: cities with highest Prime member concentration analyzed. (5) Order Analysis: orders joined with order details for revenue insights. (6) Data Integrity: enforced via primary key, unique, CHECK, DEFAULT, and foreign-key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Evaluation Metrics: Lists the six criteria used to judge project quality — Data Integrity (constraints), Query Accuracy (correct filtering/joins/ranking), Business Insight (identifying customers/products/categories), Data Organization (3NF normalization), Query Efficiency (proper GROUP BY/ORDER BY/LIMIT/JOIN usage), and Completeness (full coverage of customer, order, product, review, and supplier analysis).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Stack: Highlights the core SQL capabilities demonstrated — MySQL/SQL, DDL and DML, Primary/Foreign Keys, CHECK/UNIQUE/DEFAULT constraints, JOINs, subqueries and nested queries, aggregate functions, GROUP BY/HAVING/ORDER BY, the RANK() window function, and database normalization (3NF). Focus: reliable queries, structured data, and actionable analysis.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Describes the six core entities in the Amazon database. Key points — Customers (details, city, age, Prime status), Orders (ID, customer, date, amount, delivery fee, discount), Order Details (product, quantity, unit price, discount per order), Products (name, category, subcategory, price, stock, supplier), Reviews (product ratings), and Suppliers (supplier information). Together these support customer, transaction, product, and review analysis.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BI Dashboard: Presents the professional Power BI dashboard built on top of the SQL analysis. Key points — provides an executive overview, KPI monitoring, and interactive business analysis across Sales, Products, Customers, Inventory, and Ratings for Amazon Retail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Summarizes what the project demonstrates. Key points — (1) SQL can transform raw e-commerce data into useful business insights. (2) Constraints and normalization improve data quality and structure. (3) Joins, aggregations, subqueries, and window functions enable detailed analysis. (4) The project successfully identifies valuable customers, top products, popular categories, and Prime-member concentration. (5) Overall, it provides a strong foundation for data-driven decision-making in e-commerce. Ends with Thank You — Questions &amp;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183879" y="594360"/>
            <a:ext cx="3429000" cy="534924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412480" y="822960"/>
            <a:ext cx="2971800" cy="1005840"/>
          </a:xfrm>
          <a:prstGeom prst="roundRect">
            <a:avLst/>
          </a:prstGeom>
          <a:solidFill>
            <a:srgbClr val="131A24"/>
          </a:solidFill>
          <a:ln w="127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41080" y="987552"/>
            <a:ext cx="2468880" cy="384048"/>
          </a:xfrm>
          <a:prstGeom prst="rect">
            <a:avLst/>
          </a:prstGeom>
          <a:noFill/>
        </p:spPr>
        <p:txBody>
          <a:bodyPr wrap="none" lIns="18288" rIns="18288" tIns="18288" bIns="18288" anchor="t">
            <a:spAutoFit/>
          </a:bodyPr>
          <a:lstStyle/>
          <a:p>
            <a:pPr algn="ctr"/>
            <a:r>
              <a:rPr sz="2600" b="1">
                <a:solidFill>
                  <a:srgbClr val="F5F7FA"/>
                </a:solidFill>
                <a:latin typeface="Aptos"/>
              </a:rPr>
              <a:t>AMAZON</a:t>
            </a:r>
          </a:p>
        </p:txBody>
      </p:sp>
      <p:sp>
        <p:nvSpPr>
          <p:cNvPr id="6" name="TextBox 5"/>
          <p:cNvSpPr txBox="1"/>
          <p:nvPr/>
        </p:nvSpPr>
        <p:spPr>
          <a:xfrm>
            <a:off x="8641080" y="1389888"/>
            <a:ext cx="2468880" cy="228600"/>
          </a:xfrm>
          <a:prstGeom prst="rect">
            <a:avLst/>
          </a:prstGeom>
          <a:noFill/>
        </p:spPr>
        <p:txBody>
          <a:bodyPr wrap="none" lIns="18288" rIns="18288" tIns="18288" bIns="18288" anchor="t">
            <a:spAutoFit/>
          </a:bodyPr>
          <a:lstStyle/>
          <a:p>
            <a:pPr algn="ctr"/>
            <a:r>
              <a:rPr sz="950" b="1">
                <a:solidFill>
                  <a:srgbClr val="FF9900"/>
                </a:solidFill>
                <a:latin typeface="Aptos"/>
              </a:rPr>
              <a:t>RETAIL ANALYTICS</a:t>
            </a:r>
          </a:p>
        </p:txBody>
      </p:sp>
      <p:sp>
        <p:nvSpPr>
          <p:cNvPr id="7" name="Rounded Rectangle 6"/>
          <p:cNvSpPr/>
          <p:nvPr/>
        </p:nvSpPr>
        <p:spPr>
          <a:xfrm>
            <a:off x="8485632" y="2148840"/>
            <a:ext cx="2788920" cy="1051560"/>
          </a:xfrm>
          <a:prstGeom prst="roundRect">
            <a:avLst/>
          </a:prstGeom>
          <a:solidFill>
            <a:srgbClr val="0F151E"/>
          </a:solidFill>
          <a:ln w="1524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50224" y="2304288"/>
            <a:ext cx="2459736" cy="411480"/>
          </a:xfrm>
          <a:prstGeom prst="rect">
            <a:avLst/>
          </a:prstGeom>
          <a:noFill/>
        </p:spPr>
        <p:txBody>
          <a:bodyPr wrap="none" lIns="18288" rIns="18288" tIns="18288" bIns="18288" anchor="t">
            <a:spAutoFit/>
          </a:bodyPr>
          <a:lstStyle/>
          <a:p>
            <a:pPr algn="l"/>
            <a:r>
              <a:rPr sz="2300" b="1">
                <a:solidFill>
                  <a:srgbClr val="FF9900"/>
                </a:solidFill>
                <a:latin typeface="Aptos"/>
              </a:rPr>
              <a:t>SQL</a:t>
            </a:r>
          </a:p>
        </p:txBody>
      </p:sp>
      <p:sp>
        <p:nvSpPr>
          <p:cNvPr id="9" name="TextBox 8"/>
          <p:cNvSpPr txBox="1"/>
          <p:nvPr/>
        </p:nvSpPr>
        <p:spPr>
          <a:xfrm>
            <a:off x="8650224" y="2788920"/>
            <a:ext cx="2459736" cy="219456"/>
          </a:xfrm>
          <a:prstGeom prst="rect">
            <a:avLst/>
          </a:prstGeom>
          <a:noFill/>
        </p:spPr>
        <p:txBody>
          <a:bodyPr wrap="none" lIns="18288" rIns="18288" tIns="18288" bIns="18288" anchor="t">
            <a:spAutoFit/>
          </a:bodyPr>
          <a:lstStyle/>
          <a:p>
            <a:pPr algn="l"/>
            <a:r>
              <a:rPr sz="919" b="1">
                <a:solidFill>
                  <a:srgbClr val="F5F7FA"/>
                </a:solidFill>
                <a:latin typeface="Aptos"/>
              </a:rPr>
              <a:t>Data Layer</a:t>
            </a:r>
          </a:p>
        </p:txBody>
      </p:sp>
      <p:sp>
        <p:nvSpPr>
          <p:cNvPr id="10" name="Rounded Rectangle 9"/>
          <p:cNvSpPr/>
          <p:nvPr/>
        </p:nvSpPr>
        <p:spPr>
          <a:xfrm>
            <a:off x="8485632" y="3200400"/>
            <a:ext cx="2788920" cy="1051560"/>
          </a:xfrm>
          <a:prstGeom prst="roundRect">
            <a:avLst/>
          </a:prstGeom>
          <a:solidFill>
            <a:srgbClr val="0F151E"/>
          </a:solidFill>
          <a:ln w="15240">
            <a:solidFill>
              <a:srgbClr val="2FA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50224" y="3355848"/>
            <a:ext cx="2459736" cy="411480"/>
          </a:xfrm>
          <a:prstGeom prst="rect">
            <a:avLst/>
          </a:prstGeom>
          <a:noFill/>
        </p:spPr>
        <p:txBody>
          <a:bodyPr wrap="none" lIns="18288" rIns="18288" tIns="18288" bIns="18288" anchor="t">
            <a:spAutoFit/>
          </a:bodyPr>
          <a:lstStyle/>
          <a:p>
            <a:pPr algn="l"/>
            <a:r>
              <a:rPr sz="2300" b="1">
                <a:solidFill>
                  <a:srgbClr val="2FA4FF"/>
                </a:solidFill>
                <a:latin typeface="Aptos"/>
              </a:rPr>
              <a:t>BI</a:t>
            </a:r>
          </a:p>
        </p:txBody>
      </p:sp>
      <p:sp>
        <p:nvSpPr>
          <p:cNvPr id="12" name="TextBox 11"/>
          <p:cNvSpPr txBox="1"/>
          <p:nvPr/>
        </p:nvSpPr>
        <p:spPr>
          <a:xfrm>
            <a:off x="8650224" y="3840480"/>
            <a:ext cx="2459736" cy="219456"/>
          </a:xfrm>
          <a:prstGeom prst="rect">
            <a:avLst/>
          </a:prstGeom>
          <a:noFill/>
        </p:spPr>
        <p:txBody>
          <a:bodyPr wrap="none" lIns="18288" rIns="18288" tIns="18288" bIns="18288" anchor="t">
            <a:spAutoFit/>
          </a:bodyPr>
          <a:lstStyle/>
          <a:p>
            <a:pPr algn="l"/>
            <a:r>
              <a:rPr sz="919" b="1">
                <a:solidFill>
                  <a:srgbClr val="F5F7FA"/>
                </a:solidFill>
                <a:latin typeface="Aptos"/>
              </a:rPr>
              <a:t>Dashboard</a:t>
            </a:r>
          </a:p>
        </p:txBody>
      </p:sp>
      <p:sp>
        <p:nvSpPr>
          <p:cNvPr id="13" name="Rounded Rectangle 12"/>
          <p:cNvSpPr/>
          <p:nvPr/>
        </p:nvSpPr>
        <p:spPr>
          <a:xfrm>
            <a:off x="8485632" y="4251960"/>
            <a:ext cx="2788920" cy="1051560"/>
          </a:xfrm>
          <a:prstGeom prst="roundRect">
            <a:avLst/>
          </a:prstGeom>
          <a:solidFill>
            <a:srgbClr val="0F151E"/>
          </a:solidFill>
          <a:ln w="15240">
            <a:solidFill>
              <a:srgbClr val="31CD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0224" y="4407408"/>
            <a:ext cx="2459736" cy="411480"/>
          </a:xfrm>
          <a:prstGeom prst="rect">
            <a:avLst/>
          </a:prstGeom>
          <a:noFill/>
        </p:spPr>
        <p:txBody>
          <a:bodyPr wrap="none" lIns="18288" rIns="18288" tIns="18288" bIns="18288" anchor="t">
            <a:spAutoFit/>
          </a:bodyPr>
          <a:lstStyle/>
          <a:p>
            <a:pPr algn="l"/>
            <a:r>
              <a:rPr sz="2300" b="1">
                <a:solidFill>
                  <a:srgbClr val="31CD89"/>
                </a:solidFill>
                <a:latin typeface="Aptos"/>
              </a:rPr>
              <a:t>360°</a:t>
            </a:r>
          </a:p>
        </p:txBody>
      </p:sp>
      <p:sp>
        <p:nvSpPr>
          <p:cNvPr id="15" name="TextBox 14"/>
          <p:cNvSpPr txBox="1"/>
          <p:nvPr/>
        </p:nvSpPr>
        <p:spPr>
          <a:xfrm>
            <a:off x="8650224" y="4892040"/>
            <a:ext cx="2459736" cy="219456"/>
          </a:xfrm>
          <a:prstGeom prst="rect">
            <a:avLst/>
          </a:prstGeom>
          <a:noFill/>
        </p:spPr>
        <p:txBody>
          <a:bodyPr wrap="none" lIns="18288" rIns="18288" tIns="18288" bIns="18288" anchor="t">
            <a:spAutoFit/>
          </a:bodyPr>
          <a:lstStyle/>
          <a:p>
            <a:pPr algn="l"/>
            <a:r>
              <a:rPr sz="919" b="1">
                <a:solidFill>
                  <a:srgbClr val="F5F7FA"/>
                </a:solidFill>
                <a:latin typeface="Aptos"/>
              </a:rPr>
              <a:t>Insights</a:t>
            </a:r>
          </a:p>
        </p:txBody>
      </p:sp>
      <p:sp>
        <p:nvSpPr>
          <p:cNvPr id="16" name="TextBox 15"/>
          <p:cNvSpPr txBox="1"/>
          <p:nvPr/>
        </p:nvSpPr>
        <p:spPr>
          <a:xfrm>
            <a:off x="658368" y="1078992"/>
            <a:ext cx="6675120" cy="475488"/>
          </a:xfrm>
          <a:prstGeom prst="rect">
            <a:avLst/>
          </a:prstGeom>
          <a:noFill/>
        </p:spPr>
        <p:txBody>
          <a:bodyPr wrap="none" lIns="18288" rIns="18288" tIns="18288" bIns="18288" anchor="t">
            <a:spAutoFit/>
          </a:bodyPr>
          <a:lstStyle/>
          <a:p>
            <a:pPr algn="l"/>
            <a:r>
              <a:rPr sz="2000" b="1">
                <a:solidFill>
                  <a:srgbClr val="FF9900"/>
                </a:solidFill>
                <a:latin typeface="Aptos"/>
              </a:rPr>
              <a:t>AMAZON FRESH</a:t>
            </a:r>
          </a:p>
        </p:txBody>
      </p:sp>
      <p:sp>
        <p:nvSpPr>
          <p:cNvPr id="17" name="TextBox 16"/>
          <p:cNvSpPr txBox="1"/>
          <p:nvPr/>
        </p:nvSpPr>
        <p:spPr>
          <a:xfrm>
            <a:off x="658368" y="1572768"/>
            <a:ext cx="6675120" cy="868680"/>
          </a:xfrm>
          <a:prstGeom prst="rect">
            <a:avLst/>
          </a:prstGeom>
          <a:noFill/>
        </p:spPr>
        <p:txBody>
          <a:bodyPr wrap="none" lIns="18288" rIns="18288" tIns="18288" bIns="18288" anchor="t">
            <a:spAutoFit/>
          </a:bodyPr>
          <a:lstStyle/>
          <a:p>
            <a:pPr algn="l"/>
            <a:r>
              <a:rPr sz="4800" b="1">
                <a:solidFill>
                  <a:srgbClr val="F5F7FA"/>
                </a:solidFill>
                <a:latin typeface="Aptos"/>
              </a:rPr>
              <a:t>Analytics</a:t>
            </a:r>
          </a:p>
        </p:txBody>
      </p:sp>
      <p:sp>
        <p:nvSpPr>
          <p:cNvPr id="18" name="TextBox 17"/>
          <p:cNvSpPr txBox="1"/>
          <p:nvPr/>
        </p:nvSpPr>
        <p:spPr>
          <a:xfrm>
            <a:off x="685800" y="2542032"/>
            <a:ext cx="5943600" cy="411480"/>
          </a:xfrm>
          <a:prstGeom prst="rect">
            <a:avLst/>
          </a:prstGeom>
          <a:noFill/>
        </p:spPr>
        <p:txBody>
          <a:bodyPr wrap="none" lIns="18288" rIns="18288" tIns="18288" bIns="18288" anchor="t">
            <a:spAutoFit/>
          </a:bodyPr>
          <a:lstStyle/>
          <a:p>
            <a:pPr algn="l"/>
            <a:r>
              <a:rPr sz="2000" b="1">
                <a:solidFill>
                  <a:srgbClr val="A5B1BF"/>
                </a:solidFill>
                <a:latin typeface="Aptos"/>
              </a:rPr>
              <a:t>SQL Data Analysis Project</a:t>
            </a:r>
          </a:p>
        </p:txBody>
      </p:sp>
      <p:sp>
        <p:nvSpPr>
          <p:cNvPr id="19" name="TextBox 18"/>
          <p:cNvSpPr txBox="1"/>
          <p:nvPr/>
        </p:nvSpPr>
        <p:spPr>
          <a:xfrm>
            <a:off x="685800" y="3127248"/>
            <a:ext cx="6217920" cy="960120"/>
          </a:xfrm>
          <a:prstGeom prst="rect">
            <a:avLst/>
          </a:prstGeom>
          <a:noFill/>
        </p:spPr>
        <p:txBody>
          <a:bodyPr wrap="none" lIns="18288" rIns="18288" tIns="18288" bIns="18288" anchor="t">
            <a:spAutoFit/>
          </a:bodyPr>
          <a:lstStyle/>
          <a:p>
            <a:pPr algn="l"/>
            <a:r>
              <a:rPr sz="2000" b="0">
                <a:solidFill>
                  <a:srgbClr val="F5F7FA"/>
                </a:solidFill>
                <a:latin typeface="Aptos"/>
              </a:rPr>
              <a:t>Turning e-commerce data into structured,
decision-ready business insights.</a:t>
            </a:r>
          </a:p>
        </p:txBody>
      </p:sp>
      <p:sp>
        <p:nvSpPr>
          <p:cNvPr id="20" name="Rectangle 19"/>
          <p:cNvSpPr/>
          <p:nvPr/>
        </p:nvSpPr>
        <p:spPr>
          <a:xfrm>
            <a:off x="685800" y="4370832"/>
            <a:ext cx="5440680" cy="1828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617720"/>
            <a:ext cx="2286000" cy="228600"/>
          </a:xfrm>
          <a:prstGeom prst="rect">
            <a:avLst/>
          </a:prstGeom>
          <a:noFill/>
        </p:spPr>
        <p:txBody>
          <a:bodyPr wrap="none" lIns="18288" rIns="18288" tIns="18288" bIns="18288" anchor="t">
            <a:spAutoFit/>
          </a:bodyPr>
          <a:lstStyle/>
          <a:p>
            <a:pPr algn="l"/>
            <a:r>
              <a:rPr sz="900" b="1">
                <a:solidFill>
                  <a:srgbClr val="A5B1BF"/>
                </a:solidFill>
                <a:latin typeface="Aptos"/>
              </a:rPr>
              <a:t>PROJECT PRESENTATION</a:t>
            </a:r>
          </a:p>
        </p:txBody>
      </p:sp>
      <p:sp>
        <p:nvSpPr>
          <p:cNvPr id="22" name="TextBox 21"/>
          <p:cNvSpPr txBox="1"/>
          <p:nvPr/>
        </p:nvSpPr>
        <p:spPr>
          <a:xfrm>
            <a:off x="685800" y="5074920"/>
            <a:ext cx="1463040" cy="256032"/>
          </a:xfrm>
          <a:prstGeom prst="rect">
            <a:avLst/>
          </a:prstGeom>
          <a:noFill/>
        </p:spPr>
        <p:txBody>
          <a:bodyPr wrap="none" lIns="18288" rIns="18288" tIns="18288" bIns="18288" anchor="t">
            <a:spAutoFit/>
          </a:bodyPr>
          <a:lstStyle/>
          <a:p>
            <a:pPr algn="l"/>
            <a:r>
              <a:rPr sz="1000" b="1">
                <a:solidFill>
                  <a:srgbClr val="A5B1BF"/>
                </a:solidFill>
                <a:latin typeface="Aptos"/>
              </a:rPr>
              <a:t>Presented by</a:t>
            </a:r>
          </a:p>
        </p:txBody>
      </p:sp>
      <p:sp>
        <p:nvSpPr>
          <p:cNvPr id="23" name="TextBox 22"/>
          <p:cNvSpPr txBox="1"/>
          <p:nvPr/>
        </p:nvSpPr>
        <p:spPr>
          <a:xfrm>
            <a:off x="685800" y="5358384"/>
            <a:ext cx="3840480" cy="411480"/>
          </a:xfrm>
          <a:prstGeom prst="rect">
            <a:avLst/>
          </a:prstGeom>
          <a:noFill/>
        </p:spPr>
        <p:txBody>
          <a:bodyPr wrap="none" lIns="18288" rIns="18288" tIns="18288" bIns="18288" anchor="t">
            <a:spAutoFit/>
          </a:bodyPr>
          <a:lstStyle/>
          <a:p>
            <a:pPr algn="l"/>
            <a:r>
              <a:rPr sz="2200" b="1">
                <a:solidFill>
                  <a:srgbClr val="FF9900"/>
                </a:solidFill>
                <a:latin typeface="Aptos"/>
              </a:rPr>
              <a:t>Kavinprasath.R</a:t>
            </a:r>
          </a:p>
        </p:txBody>
      </p:sp>
      <p:sp>
        <p:nvSpPr>
          <p:cNvPr id="24" name="TextBox 23"/>
          <p:cNvSpPr txBox="1"/>
          <p:nvPr/>
        </p:nvSpPr>
        <p:spPr>
          <a:xfrm>
            <a:off x="685800" y="5989320"/>
            <a:ext cx="6675120" cy="228600"/>
          </a:xfrm>
          <a:prstGeom prst="rect">
            <a:avLst/>
          </a:prstGeom>
          <a:noFill/>
        </p:spPr>
        <p:txBody>
          <a:bodyPr wrap="none" lIns="18288" rIns="18288" tIns="18288" bIns="18288" anchor="t">
            <a:spAutoFit/>
          </a:bodyPr>
          <a:lstStyle/>
          <a:p>
            <a:pPr algn="l"/>
            <a:r>
              <a:rPr sz="950" b="0">
                <a:solidFill>
                  <a:srgbClr val="A5B1BF"/>
                </a:solidFill>
                <a:latin typeface="Aptos"/>
              </a:rPr>
              <a:t>Customers  •  Orders  •  Products  •  Reviews  •  Suppliers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INTRODUCTION</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02</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17320"/>
            <a:ext cx="5440680" cy="182880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54864" cy="18288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81912"/>
            <a:ext cx="5029200" cy="274320"/>
          </a:xfrm>
          <a:prstGeom prst="rect">
            <a:avLst/>
          </a:prstGeom>
          <a:noFill/>
        </p:spPr>
        <p:txBody>
          <a:bodyPr wrap="none" lIns="18288" rIns="18288" tIns="18288" bIns="18288" anchor="t">
            <a:spAutoFit/>
          </a:bodyPr>
          <a:lstStyle/>
          <a:p>
            <a:pPr algn="l"/>
            <a:r>
              <a:rPr sz="1400" b="1">
                <a:solidFill>
                  <a:srgbClr val="F5F7FA"/>
                </a:solidFill>
                <a:latin typeface="Aptos"/>
              </a:rPr>
              <a:t>PROJECT PURPOSE</a:t>
            </a:r>
          </a:p>
        </p:txBody>
      </p:sp>
      <p:sp>
        <p:nvSpPr>
          <p:cNvPr id="10" name="TextBox 9"/>
          <p:cNvSpPr txBox="1"/>
          <p:nvPr/>
        </p:nvSpPr>
        <p:spPr>
          <a:xfrm>
            <a:off x="731520" y="1947672"/>
            <a:ext cx="5029200" cy="1170432"/>
          </a:xfrm>
          <a:prstGeom prst="rect">
            <a:avLst/>
          </a:prstGeom>
          <a:noFill/>
        </p:spPr>
        <p:txBody>
          <a:bodyPr wrap="none" lIns="18288" rIns="18288" tIns="18288" bIns="18288" anchor="t">
            <a:spAutoFit/>
          </a:bodyPr>
          <a:lstStyle/>
          <a:p>
            <a:pPr algn="l"/>
            <a:r>
              <a:rPr sz="1120" b="0">
                <a:solidFill>
                  <a:srgbClr val="A5B1BF"/>
                </a:solidFill>
                <a:latin typeface="Aptos"/>
              </a:rPr>
              <a:t>Amazon Fresh Analytics is a SQL-based data analysis project designed to analyze customers, orders, products, reviews and suppliers.</a:t>
            </a:r>
          </a:p>
        </p:txBody>
      </p:sp>
      <p:sp>
        <p:nvSpPr>
          <p:cNvPr id="11" name="Rounded Rectangle 10"/>
          <p:cNvSpPr/>
          <p:nvPr/>
        </p:nvSpPr>
        <p:spPr>
          <a:xfrm>
            <a:off x="6199632" y="1417320"/>
            <a:ext cx="5440680" cy="182880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417320"/>
            <a:ext cx="54864" cy="1828800"/>
          </a:xfrm>
          <a:prstGeom prst="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581912"/>
            <a:ext cx="5029200" cy="274320"/>
          </a:xfrm>
          <a:prstGeom prst="rect">
            <a:avLst/>
          </a:prstGeom>
          <a:noFill/>
        </p:spPr>
        <p:txBody>
          <a:bodyPr wrap="none" lIns="18288" rIns="18288" tIns="18288" bIns="18288" anchor="t">
            <a:spAutoFit/>
          </a:bodyPr>
          <a:lstStyle/>
          <a:p>
            <a:pPr algn="l"/>
            <a:r>
              <a:rPr sz="1400" b="1">
                <a:solidFill>
                  <a:srgbClr val="F5F7FA"/>
                </a:solidFill>
                <a:latin typeface="Aptos"/>
              </a:rPr>
              <a:t>ANALYTICAL FOCUS</a:t>
            </a:r>
          </a:p>
        </p:txBody>
      </p:sp>
      <p:sp>
        <p:nvSpPr>
          <p:cNvPr id="14" name="TextBox 13"/>
          <p:cNvSpPr txBox="1"/>
          <p:nvPr/>
        </p:nvSpPr>
        <p:spPr>
          <a:xfrm>
            <a:off x="6428232" y="1947672"/>
            <a:ext cx="5029200" cy="1170432"/>
          </a:xfrm>
          <a:prstGeom prst="rect">
            <a:avLst/>
          </a:prstGeom>
          <a:noFill/>
        </p:spPr>
        <p:txBody>
          <a:bodyPr wrap="none" lIns="18288" rIns="18288" tIns="18288" bIns="18288" anchor="t">
            <a:spAutoFit/>
          </a:bodyPr>
          <a:lstStyle/>
          <a:p>
            <a:pPr algn="l"/>
            <a:r>
              <a:rPr sz="1120" b="0">
                <a:solidFill>
                  <a:srgbClr val="A5B1BF"/>
                </a:solidFill>
                <a:latin typeface="Aptos"/>
              </a:rPr>
              <a:t>The analysis focuses on customer spending, product sales, ratings, Prime membership and supplier/product information.</a:t>
            </a:r>
          </a:p>
        </p:txBody>
      </p:sp>
      <p:sp>
        <p:nvSpPr>
          <p:cNvPr id="15" name="Rounded Rectangle 14"/>
          <p:cNvSpPr/>
          <p:nvPr/>
        </p:nvSpPr>
        <p:spPr>
          <a:xfrm>
            <a:off x="502920" y="3493008"/>
            <a:ext cx="5440680" cy="150876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493008"/>
            <a:ext cx="54864" cy="1508760"/>
          </a:xfrm>
          <a:prstGeom prst="rect">
            <a:avLst/>
          </a:prstGeom>
          <a:solidFill>
            <a:srgbClr val="31C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657600"/>
            <a:ext cx="5029200" cy="274320"/>
          </a:xfrm>
          <a:prstGeom prst="rect">
            <a:avLst/>
          </a:prstGeom>
          <a:noFill/>
        </p:spPr>
        <p:txBody>
          <a:bodyPr wrap="none" lIns="18288" rIns="18288" tIns="18288" bIns="18288" anchor="t">
            <a:spAutoFit/>
          </a:bodyPr>
          <a:lstStyle/>
          <a:p>
            <a:pPr algn="l"/>
            <a:r>
              <a:rPr sz="1400" b="1">
                <a:solidFill>
                  <a:srgbClr val="F5F7FA"/>
                </a:solidFill>
                <a:latin typeface="Aptos"/>
              </a:rPr>
              <a:t>SQL-DRIVEN SOLUTION</a:t>
            </a:r>
          </a:p>
        </p:txBody>
      </p:sp>
      <p:sp>
        <p:nvSpPr>
          <p:cNvPr id="18" name="TextBox 17"/>
          <p:cNvSpPr txBox="1"/>
          <p:nvPr/>
        </p:nvSpPr>
        <p:spPr>
          <a:xfrm>
            <a:off x="731520" y="4023359"/>
            <a:ext cx="5029200" cy="850392"/>
          </a:xfrm>
          <a:prstGeom prst="rect">
            <a:avLst/>
          </a:prstGeom>
          <a:noFill/>
        </p:spPr>
        <p:txBody>
          <a:bodyPr wrap="none" lIns="18288" rIns="18288" tIns="18288" bIns="18288" anchor="t">
            <a:spAutoFit/>
          </a:bodyPr>
          <a:lstStyle/>
          <a:p>
            <a:pPr algn="l"/>
            <a:r>
              <a:rPr sz="1120" b="0">
                <a:solidFill>
                  <a:srgbClr val="A5B1BF"/>
                </a:solidFill>
                <a:latin typeface="Aptos"/>
              </a:rPr>
              <a:t>The project uses SQL queries to retrieve, clean, transform and analyze business data.</a:t>
            </a:r>
          </a:p>
        </p:txBody>
      </p:sp>
      <p:sp>
        <p:nvSpPr>
          <p:cNvPr id="19" name="Rounded Rectangle 18"/>
          <p:cNvSpPr/>
          <p:nvPr/>
        </p:nvSpPr>
        <p:spPr>
          <a:xfrm>
            <a:off x="6199632" y="3493008"/>
            <a:ext cx="5440680" cy="150876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3493008"/>
            <a:ext cx="54864" cy="1508760"/>
          </a:xfrm>
          <a:prstGeom prst="rect">
            <a:avLst/>
          </a:prstGeom>
          <a:solidFill>
            <a:srgbClr val="E86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657600"/>
            <a:ext cx="5029200" cy="274320"/>
          </a:xfrm>
          <a:prstGeom prst="rect">
            <a:avLst/>
          </a:prstGeom>
          <a:noFill/>
        </p:spPr>
        <p:txBody>
          <a:bodyPr wrap="none" lIns="18288" rIns="18288" tIns="18288" bIns="18288" anchor="t">
            <a:spAutoFit/>
          </a:bodyPr>
          <a:lstStyle/>
          <a:p>
            <a:pPr algn="l"/>
            <a:r>
              <a:rPr sz="1400" b="1">
                <a:solidFill>
                  <a:srgbClr val="F5F7FA"/>
                </a:solidFill>
                <a:latin typeface="Aptos"/>
              </a:rPr>
              <a:t>BUSINESS OUTCOME</a:t>
            </a:r>
          </a:p>
        </p:txBody>
      </p:sp>
      <p:sp>
        <p:nvSpPr>
          <p:cNvPr id="22" name="TextBox 21"/>
          <p:cNvSpPr txBox="1"/>
          <p:nvPr/>
        </p:nvSpPr>
        <p:spPr>
          <a:xfrm>
            <a:off x="6428232" y="4023359"/>
            <a:ext cx="5029200" cy="850392"/>
          </a:xfrm>
          <a:prstGeom prst="rect">
            <a:avLst/>
          </a:prstGeom>
          <a:noFill/>
        </p:spPr>
        <p:txBody>
          <a:bodyPr wrap="none" lIns="18288" rIns="18288" tIns="18288" bIns="18288" anchor="t">
            <a:spAutoFit/>
          </a:bodyPr>
          <a:lstStyle/>
          <a:p>
            <a:pPr algn="l"/>
            <a:r>
              <a:rPr sz="1120" b="0">
                <a:solidFill>
                  <a:srgbClr val="A5B1BF"/>
                </a:solidFill>
                <a:latin typeface="Aptos"/>
              </a:rPr>
              <a:t>The goal is to generate useful insights that can support better business decisions.</a:t>
            </a:r>
          </a:p>
        </p:txBody>
      </p:sp>
      <p:sp>
        <p:nvSpPr>
          <p:cNvPr id="23" name="TextBox 22"/>
          <p:cNvSpPr txBox="1"/>
          <p:nvPr/>
        </p:nvSpPr>
        <p:spPr>
          <a:xfrm>
            <a:off x="530352" y="5303520"/>
            <a:ext cx="2743200" cy="274320"/>
          </a:xfrm>
          <a:prstGeom prst="rect">
            <a:avLst/>
          </a:prstGeom>
          <a:noFill/>
        </p:spPr>
        <p:txBody>
          <a:bodyPr wrap="none" lIns="18288" rIns="18288" tIns="18288" bIns="18288" anchor="t">
            <a:spAutoFit/>
          </a:bodyPr>
          <a:lstStyle/>
          <a:p>
            <a:pPr algn="l"/>
            <a:r>
              <a:rPr sz="1300" b="1">
                <a:solidFill>
                  <a:srgbClr val="F5F7FA"/>
                </a:solidFill>
                <a:latin typeface="Aptos"/>
              </a:rPr>
              <a:t>Core business themes</a:t>
            </a:r>
          </a:p>
        </p:txBody>
      </p:sp>
      <p:sp>
        <p:nvSpPr>
          <p:cNvPr id="24" name="Rounded Rectangle 23"/>
          <p:cNvSpPr/>
          <p:nvPr/>
        </p:nvSpPr>
        <p:spPr>
          <a:xfrm>
            <a:off x="530352" y="5687568"/>
            <a:ext cx="3246120" cy="329184"/>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5751576"/>
            <a:ext cx="2971800" cy="182880"/>
          </a:xfrm>
          <a:prstGeom prst="rect">
            <a:avLst/>
          </a:prstGeom>
          <a:noFill/>
        </p:spPr>
        <p:txBody>
          <a:bodyPr wrap="none" lIns="18288" rIns="18288" tIns="18288" bIns="18288" anchor="t">
            <a:spAutoFit/>
          </a:bodyPr>
          <a:lstStyle/>
          <a:p>
            <a:pPr algn="ctr"/>
            <a:r>
              <a:rPr sz="880" b="1">
                <a:solidFill>
                  <a:srgbClr val="A5B1BF"/>
                </a:solidFill>
                <a:latin typeface="Aptos"/>
              </a:rPr>
              <a:t>Customer Value</a:t>
            </a:r>
          </a:p>
        </p:txBody>
      </p:sp>
      <p:sp>
        <p:nvSpPr>
          <p:cNvPr id="26" name="Rounded Rectangle 25"/>
          <p:cNvSpPr/>
          <p:nvPr/>
        </p:nvSpPr>
        <p:spPr>
          <a:xfrm>
            <a:off x="4233672" y="5687568"/>
            <a:ext cx="3246120" cy="329184"/>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2" y="5751576"/>
            <a:ext cx="2971800" cy="182880"/>
          </a:xfrm>
          <a:prstGeom prst="rect">
            <a:avLst/>
          </a:prstGeom>
          <a:noFill/>
        </p:spPr>
        <p:txBody>
          <a:bodyPr wrap="none" lIns="18288" rIns="18288" tIns="18288" bIns="18288" anchor="t">
            <a:spAutoFit/>
          </a:bodyPr>
          <a:lstStyle/>
          <a:p>
            <a:pPr algn="ctr"/>
            <a:r>
              <a:rPr sz="880" b="1">
                <a:solidFill>
                  <a:srgbClr val="A5B1BF"/>
                </a:solidFill>
                <a:latin typeface="Aptos"/>
              </a:rPr>
              <a:t>Product Sales</a:t>
            </a:r>
          </a:p>
        </p:txBody>
      </p:sp>
      <p:sp>
        <p:nvSpPr>
          <p:cNvPr id="28" name="Rounded Rectangle 27"/>
          <p:cNvSpPr/>
          <p:nvPr/>
        </p:nvSpPr>
        <p:spPr>
          <a:xfrm>
            <a:off x="7936992" y="5687568"/>
            <a:ext cx="3246120" cy="329184"/>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74152" y="5751576"/>
            <a:ext cx="2971800" cy="182880"/>
          </a:xfrm>
          <a:prstGeom prst="rect">
            <a:avLst/>
          </a:prstGeom>
          <a:noFill/>
        </p:spPr>
        <p:txBody>
          <a:bodyPr wrap="none" lIns="18288" rIns="18288" tIns="18288" bIns="18288" anchor="t">
            <a:spAutoFit/>
          </a:bodyPr>
          <a:lstStyle/>
          <a:p>
            <a:pPr algn="ctr"/>
            <a:r>
              <a:rPr sz="880" b="1">
                <a:solidFill>
                  <a:srgbClr val="A5B1BF"/>
                </a:solidFill>
                <a:latin typeface="Aptos"/>
              </a:rPr>
              <a:t>Ratings</a:t>
            </a:r>
          </a:p>
        </p:txBody>
      </p:sp>
      <p:sp>
        <p:nvSpPr>
          <p:cNvPr id="30" name="Rounded Rectangle 29"/>
          <p:cNvSpPr/>
          <p:nvPr/>
        </p:nvSpPr>
        <p:spPr>
          <a:xfrm>
            <a:off x="530352" y="6126479"/>
            <a:ext cx="3246120" cy="329184"/>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6190488"/>
            <a:ext cx="2971800" cy="182880"/>
          </a:xfrm>
          <a:prstGeom prst="rect">
            <a:avLst/>
          </a:prstGeom>
          <a:noFill/>
        </p:spPr>
        <p:txBody>
          <a:bodyPr wrap="none" lIns="18288" rIns="18288" tIns="18288" bIns="18288" anchor="t">
            <a:spAutoFit/>
          </a:bodyPr>
          <a:lstStyle/>
          <a:p>
            <a:pPr algn="ctr"/>
            <a:r>
              <a:rPr sz="880" b="1">
                <a:solidFill>
                  <a:srgbClr val="A5B1BF"/>
                </a:solidFill>
                <a:latin typeface="Aptos"/>
              </a:rPr>
              <a:t>Prime Members</a:t>
            </a:r>
          </a:p>
        </p:txBody>
      </p:sp>
      <p:sp>
        <p:nvSpPr>
          <p:cNvPr id="32" name="Rounded Rectangle 31"/>
          <p:cNvSpPr/>
          <p:nvPr/>
        </p:nvSpPr>
        <p:spPr>
          <a:xfrm>
            <a:off x="4233672" y="6126479"/>
            <a:ext cx="3246120" cy="329184"/>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0832" y="6190488"/>
            <a:ext cx="2971800" cy="182880"/>
          </a:xfrm>
          <a:prstGeom prst="rect">
            <a:avLst/>
          </a:prstGeom>
          <a:noFill/>
        </p:spPr>
        <p:txBody>
          <a:bodyPr wrap="none" lIns="18288" rIns="18288" tIns="18288" bIns="18288" anchor="t">
            <a:spAutoFit/>
          </a:bodyPr>
          <a:lstStyle/>
          <a:p>
            <a:pPr algn="ctr"/>
            <a:r>
              <a:rPr sz="880" b="1">
                <a:solidFill>
                  <a:srgbClr val="A5B1BF"/>
                </a:solidFill>
                <a:latin typeface="Aptos"/>
              </a:rPr>
              <a:t>Supplier Insights</a:t>
            </a:r>
          </a:p>
        </p:txBody>
      </p:sp>
      <p:sp>
        <p:nvSpPr>
          <p:cNvPr id="34" name="Rectangle 33"/>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36" name="TextBox 35"/>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PROBLEM STATEMENT</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03</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53312"/>
            <a:ext cx="5486400" cy="320040"/>
          </a:xfrm>
          <a:prstGeom prst="rect">
            <a:avLst/>
          </a:prstGeom>
          <a:noFill/>
        </p:spPr>
        <p:txBody>
          <a:bodyPr wrap="none" lIns="18288" rIns="18288" tIns="18288" bIns="18288" anchor="t">
            <a:spAutoFit/>
          </a:bodyPr>
          <a:lstStyle/>
          <a:p>
            <a:pPr algn="l"/>
            <a:r>
              <a:rPr sz="1400" b="1">
                <a:solidFill>
                  <a:srgbClr val="F5F7FA"/>
                </a:solidFill>
                <a:latin typeface="Aptos"/>
              </a:rPr>
              <a:t>Why structured analytics is needed</a:t>
            </a:r>
          </a:p>
        </p:txBody>
      </p:sp>
      <p:sp>
        <p:nvSpPr>
          <p:cNvPr id="8" name="Rounded Rectangle 7"/>
          <p:cNvSpPr/>
          <p:nvPr/>
        </p:nvSpPr>
        <p:spPr>
          <a:xfrm>
            <a:off x="530352" y="1810512"/>
            <a:ext cx="621792" cy="621792"/>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984248"/>
            <a:ext cx="621792" cy="256032"/>
          </a:xfrm>
          <a:prstGeom prst="rect">
            <a:avLst/>
          </a:prstGeom>
          <a:noFill/>
        </p:spPr>
        <p:txBody>
          <a:bodyPr wrap="none" lIns="18288" rIns="18288" tIns="18288" bIns="18288" anchor="t">
            <a:spAutoFit/>
          </a:bodyPr>
          <a:lstStyle/>
          <a:p>
            <a:pPr algn="ctr"/>
            <a:r>
              <a:rPr sz="1100" b="1">
                <a:solidFill>
                  <a:srgbClr val="070A10"/>
                </a:solidFill>
                <a:latin typeface="Aptos"/>
              </a:rPr>
              <a:t>01</a:t>
            </a:r>
          </a:p>
        </p:txBody>
      </p:sp>
      <p:sp>
        <p:nvSpPr>
          <p:cNvPr id="10" name="Rounded Rectangle 9"/>
          <p:cNvSpPr/>
          <p:nvPr/>
        </p:nvSpPr>
        <p:spPr>
          <a:xfrm>
            <a:off x="1298448" y="1773936"/>
            <a:ext cx="10332720" cy="7132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98448" y="1773936"/>
            <a:ext cx="54864" cy="7132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7048" y="1938528"/>
            <a:ext cx="9921240" cy="274320"/>
          </a:xfrm>
          <a:prstGeom prst="rect">
            <a:avLst/>
          </a:prstGeom>
          <a:noFill/>
        </p:spPr>
        <p:txBody>
          <a:bodyPr wrap="none" lIns="18288" rIns="18288" tIns="18288" bIns="18288" anchor="t">
            <a:spAutoFit/>
          </a:bodyPr>
          <a:lstStyle/>
          <a:p>
            <a:pPr algn="l"/>
            <a:r>
              <a:rPr sz="1400" b="1">
                <a:solidFill>
                  <a:srgbClr val="F5F7FA"/>
                </a:solidFill>
                <a:latin typeface="Aptos"/>
              </a:rPr>
              <a:t>DATA COMPLEXITY</a:t>
            </a:r>
          </a:p>
        </p:txBody>
      </p:sp>
      <p:sp>
        <p:nvSpPr>
          <p:cNvPr id="13" name="TextBox 12"/>
          <p:cNvSpPr txBox="1"/>
          <p:nvPr/>
        </p:nvSpPr>
        <p:spPr>
          <a:xfrm>
            <a:off x="1527048" y="2304288"/>
            <a:ext cx="9921240" cy="54864"/>
          </a:xfrm>
          <a:prstGeom prst="rect">
            <a:avLst/>
          </a:prstGeom>
          <a:noFill/>
        </p:spPr>
        <p:txBody>
          <a:bodyPr wrap="none" lIns="18288" rIns="18288" tIns="18288" bIns="18288" anchor="t">
            <a:spAutoFit/>
          </a:bodyPr>
          <a:lstStyle/>
          <a:p>
            <a:pPr algn="l"/>
            <a:r>
              <a:rPr sz="1120" b="0">
                <a:solidFill>
                  <a:srgbClr val="A5B1BF"/>
                </a:solidFill>
                <a:latin typeface="Aptos"/>
              </a:rPr>
              <a:t>Large e-commerce datasets contain customer, order, product and supplier information that can be difficult to analyze manually.</a:t>
            </a:r>
          </a:p>
        </p:txBody>
      </p:sp>
      <p:sp>
        <p:nvSpPr>
          <p:cNvPr id="14" name="Rounded Rectangle 13"/>
          <p:cNvSpPr/>
          <p:nvPr/>
        </p:nvSpPr>
        <p:spPr>
          <a:xfrm>
            <a:off x="530352" y="2907791"/>
            <a:ext cx="621792" cy="621792"/>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3081527"/>
            <a:ext cx="621792" cy="256032"/>
          </a:xfrm>
          <a:prstGeom prst="rect">
            <a:avLst/>
          </a:prstGeom>
          <a:noFill/>
        </p:spPr>
        <p:txBody>
          <a:bodyPr wrap="none" lIns="18288" rIns="18288" tIns="18288" bIns="18288" anchor="t">
            <a:spAutoFit/>
          </a:bodyPr>
          <a:lstStyle/>
          <a:p>
            <a:pPr algn="ctr"/>
            <a:r>
              <a:rPr sz="1100" b="1">
                <a:solidFill>
                  <a:srgbClr val="070A10"/>
                </a:solidFill>
                <a:latin typeface="Aptos"/>
              </a:rPr>
              <a:t>02</a:t>
            </a:r>
          </a:p>
        </p:txBody>
      </p:sp>
      <p:sp>
        <p:nvSpPr>
          <p:cNvPr id="16" name="Rounded Rectangle 15"/>
          <p:cNvSpPr/>
          <p:nvPr/>
        </p:nvSpPr>
        <p:spPr>
          <a:xfrm>
            <a:off x="1298448" y="2871215"/>
            <a:ext cx="10332720" cy="7132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2871215"/>
            <a:ext cx="54864" cy="713232"/>
          </a:xfrm>
          <a:prstGeom prst="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7048" y="3035808"/>
            <a:ext cx="9921240" cy="274320"/>
          </a:xfrm>
          <a:prstGeom prst="rect">
            <a:avLst/>
          </a:prstGeom>
          <a:noFill/>
        </p:spPr>
        <p:txBody>
          <a:bodyPr wrap="none" lIns="18288" rIns="18288" tIns="18288" bIns="18288" anchor="t">
            <a:spAutoFit/>
          </a:bodyPr>
          <a:lstStyle/>
          <a:p>
            <a:pPr algn="l"/>
            <a:r>
              <a:rPr sz="1400" b="1">
                <a:solidFill>
                  <a:srgbClr val="F5F7FA"/>
                </a:solidFill>
                <a:latin typeface="Aptos"/>
              </a:rPr>
              <a:t>BUSINESS QUESTIONS</a:t>
            </a:r>
          </a:p>
        </p:txBody>
      </p:sp>
      <p:sp>
        <p:nvSpPr>
          <p:cNvPr id="19" name="TextBox 18"/>
          <p:cNvSpPr txBox="1"/>
          <p:nvPr/>
        </p:nvSpPr>
        <p:spPr>
          <a:xfrm>
            <a:off x="1527048" y="3401568"/>
            <a:ext cx="9921240" cy="54864"/>
          </a:xfrm>
          <a:prstGeom prst="rect">
            <a:avLst/>
          </a:prstGeom>
          <a:noFill/>
        </p:spPr>
        <p:txBody>
          <a:bodyPr wrap="none" lIns="18288" rIns="18288" tIns="18288" bIns="18288" anchor="t">
            <a:spAutoFit/>
          </a:bodyPr>
          <a:lstStyle/>
          <a:p>
            <a:pPr algn="l"/>
            <a:r>
              <a:rPr sz="1120" b="0">
                <a:solidFill>
                  <a:srgbClr val="A5B1BF"/>
                </a:solidFill>
                <a:latin typeface="Aptos"/>
              </a:rPr>
              <a:t>Businesses need to identify high-value customers, top-selling products and frequently ordered categories.</a:t>
            </a:r>
          </a:p>
        </p:txBody>
      </p:sp>
      <p:sp>
        <p:nvSpPr>
          <p:cNvPr id="20" name="Rounded Rectangle 19"/>
          <p:cNvSpPr/>
          <p:nvPr/>
        </p:nvSpPr>
        <p:spPr>
          <a:xfrm>
            <a:off x="530352" y="4005072"/>
            <a:ext cx="621792" cy="621792"/>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178808"/>
            <a:ext cx="621792" cy="256032"/>
          </a:xfrm>
          <a:prstGeom prst="rect">
            <a:avLst/>
          </a:prstGeom>
          <a:noFill/>
        </p:spPr>
        <p:txBody>
          <a:bodyPr wrap="none" lIns="18288" rIns="18288" tIns="18288" bIns="18288" anchor="t">
            <a:spAutoFit/>
          </a:bodyPr>
          <a:lstStyle/>
          <a:p>
            <a:pPr algn="ctr"/>
            <a:r>
              <a:rPr sz="1100" b="1">
                <a:solidFill>
                  <a:srgbClr val="070A10"/>
                </a:solidFill>
                <a:latin typeface="Aptos"/>
              </a:rPr>
              <a:t>03</a:t>
            </a:r>
          </a:p>
        </p:txBody>
      </p:sp>
      <p:sp>
        <p:nvSpPr>
          <p:cNvPr id="22" name="Rounded Rectangle 21"/>
          <p:cNvSpPr/>
          <p:nvPr/>
        </p:nvSpPr>
        <p:spPr>
          <a:xfrm>
            <a:off x="1298448" y="3968496"/>
            <a:ext cx="10332720" cy="7132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98448" y="3968496"/>
            <a:ext cx="54864" cy="713232"/>
          </a:xfrm>
          <a:prstGeom prst="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7048" y="4133087"/>
            <a:ext cx="9921240" cy="274320"/>
          </a:xfrm>
          <a:prstGeom prst="rect">
            <a:avLst/>
          </a:prstGeom>
          <a:noFill/>
        </p:spPr>
        <p:txBody>
          <a:bodyPr wrap="none" lIns="18288" rIns="18288" tIns="18288" bIns="18288" anchor="t">
            <a:spAutoFit/>
          </a:bodyPr>
          <a:lstStyle/>
          <a:p>
            <a:pPr algn="l"/>
            <a:r>
              <a:rPr sz="1400" b="1">
                <a:solidFill>
                  <a:srgbClr val="F5F7FA"/>
                </a:solidFill>
                <a:latin typeface="Aptos"/>
              </a:rPr>
              <a:t>DATA QUALITY</a:t>
            </a:r>
          </a:p>
        </p:txBody>
      </p:sp>
      <p:sp>
        <p:nvSpPr>
          <p:cNvPr id="25" name="TextBox 24"/>
          <p:cNvSpPr txBox="1"/>
          <p:nvPr/>
        </p:nvSpPr>
        <p:spPr>
          <a:xfrm>
            <a:off x="1527048" y="4498848"/>
            <a:ext cx="9921240" cy="54864"/>
          </a:xfrm>
          <a:prstGeom prst="rect">
            <a:avLst/>
          </a:prstGeom>
          <a:noFill/>
        </p:spPr>
        <p:txBody>
          <a:bodyPr wrap="none" lIns="18288" rIns="18288" tIns="18288" bIns="18288" anchor="t">
            <a:spAutoFit/>
          </a:bodyPr>
          <a:lstStyle/>
          <a:p>
            <a:pPr algn="l"/>
            <a:r>
              <a:rPr sz="1120" b="0">
                <a:solidFill>
                  <a:srgbClr val="A5B1BF"/>
                </a:solidFill>
                <a:latin typeface="Aptos"/>
              </a:rPr>
              <a:t>Duplicate names, invalid ages and invalid ratings can affect analysis.</a:t>
            </a:r>
          </a:p>
        </p:txBody>
      </p:sp>
      <p:sp>
        <p:nvSpPr>
          <p:cNvPr id="26" name="Rounded Rectangle 25"/>
          <p:cNvSpPr/>
          <p:nvPr/>
        </p:nvSpPr>
        <p:spPr>
          <a:xfrm>
            <a:off x="530352" y="5102352"/>
            <a:ext cx="621792" cy="621792"/>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5276088"/>
            <a:ext cx="621792" cy="256032"/>
          </a:xfrm>
          <a:prstGeom prst="rect">
            <a:avLst/>
          </a:prstGeom>
          <a:noFill/>
        </p:spPr>
        <p:txBody>
          <a:bodyPr wrap="none" lIns="18288" rIns="18288" tIns="18288" bIns="18288" anchor="t">
            <a:spAutoFit/>
          </a:bodyPr>
          <a:lstStyle/>
          <a:p>
            <a:pPr algn="ctr"/>
            <a:r>
              <a:rPr sz="1100" b="1">
                <a:solidFill>
                  <a:srgbClr val="070A10"/>
                </a:solidFill>
                <a:latin typeface="Aptos"/>
              </a:rPr>
              <a:t>04</a:t>
            </a:r>
          </a:p>
        </p:txBody>
      </p:sp>
      <p:sp>
        <p:nvSpPr>
          <p:cNvPr id="28" name="Rounded Rectangle 27"/>
          <p:cNvSpPr/>
          <p:nvPr/>
        </p:nvSpPr>
        <p:spPr>
          <a:xfrm>
            <a:off x="1298448" y="5065776"/>
            <a:ext cx="10332720" cy="7132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98448" y="5065776"/>
            <a:ext cx="54864" cy="7132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7048" y="5230368"/>
            <a:ext cx="9921240" cy="274320"/>
          </a:xfrm>
          <a:prstGeom prst="rect">
            <a:avLst/>
          </a:prstGeom>
          <a:noFill/>
        </p:spPr>
        <p:txBody>
          <a:bodyPr wrap="none" lIns="18288" rIns="18288" tIns="18288" bIns="18288" anchor="t">
            <a:spAutoFit/>
          </a:bodyPr>
          <a:lstStyle/>
          <a:p>
            <a:pPr algn="l"/>
            <a:r>
              <a:rPr sz="1400" b="1">
                <a:solidFill>
                  <a:srgbClr val="F5F7FA"/>
                </a:solidFill>
                <a:latin typeface="Aptos"/>
              </a:rPr>
              <a:t>PROJECT GOAL</a:t>
            </a:r>
          </a:p>
        </p:txBody>
      </p:sp>
      <p:sp>
        <p:nvSpPr>
          <p:cNvPr id="31" name="TextBox 30"/>
          <p:cNvSpPr txBox="1"/>
          <p:nvPr/>
        </p:nvSpPr>
        <p:spPr>
          <a:xfrm>
            <a:off x="1527048" y="5596128"/>
            <a:ext cx="9921240" cy="54864"/>
          </a:xfrm>
          <a:prstGeom prst="rect">
            <a:avLst/>
          </a:prstGeom>
          <a:noFill/>
        </p:spPr>
        <p:txBody>
          <a:bodyPr wrap="none" lIns="18288" rIns="18288" tIns="18288" bIns="18288" anchor="t">
            <a:spAutoFit/>
          </a:bodyPr>
          <a:lstStyle/>
          <a:p>
            <a:pPr algn="l"/>
            <a:r>
              <a:rPr sz="1120" b="0">
                <a:solidFill>
                  <a:srgbClr val="A5B1BF"/>
                </a:solidFill>
                <a:latin typeface="Aptos"/>
              </a:rPr>
              <a:t>Use SQL to organize data, maintain data integrity and extract actionable business insights.</a:t>
            </a:r>
          </a:p>
        </p:txBody>
      </p:sp>
      <p:sp>
        <p:nvSpPr>
          <p:cNvPr id="32" name="Rectangle 31"/>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34" name="TextBox 33"/>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APPROACH</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04</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17320"/>
            <a:ext cx="3456432" cy="16276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581912"/>
            <a:ext cx="475488" cy="475488"/>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09928"/>
            <a:ext cx="475488" cy="182880"/>
          </a:xfrm>
          <a:prstGeom prst="rect">
            <a:avLst/>
          </a:prstGeom>
          <a:noFill/>
        </p:spPr>
        <p:txBody>
          <a:bodyPr wrap="none" lIns="18288" rIns="18288" tIns="18288" bIns="18288" anchor="t">
            <a:spAutoFit/>
          </a:bodyPr>
          <a:lstStyle/>
          <a:p>
            <a:pPr algn="ctr"/>
            <a:r>
              <a:rPr sz="900" b="1">
                <a:solidFill>
                  <a:srgbClr val="070A10"/>
                </a:solidFill>
                <a:latin typeface="Aptos"/>
              </a:rPr>
              <a:t>01</a:t>
            </a:r>
          </a:p>
        </p:txBody>
      </p:sp>
      <p:sp>
        <p:nvSpPr>
          <p:cNvPr id="10" name="TextBox 9"/>
          <p:cNvSpPr txBox="1"/>
          <p:nvPr/>
        </p:nvSpPr>
        <p:spPr>
          <a:xfrm>
            <a:off x="1289304" y="1591056"/>
            <a:ext cx="2423160" cy="256032"/>
          </a:xfrm>
          <a:prstGeom prst="rect">
            <a:avLst/>
          </a:prstGeom>
          <a:noFill/>
        </p:spPr>
        <p:txBody>
          <a:bodyPr wrap="none" lIns="18288" rIns="18288" tIns="18288" bIns="18288" anchor="t">
            <a:spAutoFit/>
          </a:bodyPr>
          <a:lstStyle/>
          <a:p>
            <a:pPr algn="l"/>
            <a:r>
              <a:rPr sz="1250" b="1">
                <a:solidFill>
                  <a:srgbClr val="F5F7FA"/>
                </a:solidFill>
                <a:latin typeface="Aptos"/>
              </a:rPr>
              <a:t>DATABASE</a:t>
            </a:r>
          </a:p>
        </p:txBody>
      </p:sp>
      <p:sp>
        <p:nvSpPr>
          <p:cNvPr id="11" name="TextBox 10"/>
          <p:cNvSpPr txBox="1"/>
          <p:nvPr/>
        </p:nvSpPr>
        <p:spPr>
          <a:xfrm>
            <a:off x="667512" y="2130552"/>
            <a:ext cx="3127248" cy="713232"/>
          </a:xfrm>
          <a:prstGeom prst="rect">
            <a:avLst/>
          </a:prstGeom>
          <a:noFill/>
        </p:spPr>
        <p:txBody>
          <a:bodyPr wrap="none" lIns="18288" rIns="18288" tIns="18288" bIns="18288" anchor="t">
            <a:spAutoFit/>
          </a:bodyPr>
          <a:lstStyle/>
          <a:p>
            <a:pPr algn="l"/>
            <a:r>
              <a:rPr sz="950" b="0">
                <a:solidFill>
                  <a:srgbClr val="A5B1BF"/>
                </a:solidFill>
                <a:latin typeface="Aptos"/>
              </a:rPr>
              <a:t>Create and retrieve data from the Amazon Fresh database tables.</a:t>
            </a:r>
          </a:p>
        </p:txBody>
      </p:sp>
      <p:sp>
        <p:nvSpPr>
          <p:cNvPr id="12" name="Rounded Rectangle 11"/>
          <p:cNvSpPr/>
          <p:nvPr/>
        </p:nvSpPr>
        <p:spPr>
          <a:xfrm>
            <a:off x="4270248" y="1417320"/>
            <a:ext cx="3456432" cy="16276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34840" y="1581912"/>
            <a:ext cx="475488" cy="475488"/>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709928"/>
            <a:ext cx="475488" cy="182880"/>
          </a:xfrm>
          <a:prstGeom prst="rect">
            <a:avLst/>
          </a:prstGeom>
          <a:noFill/>
        </p:spPr>
        <p:txBody>
          <a:bodyPr wrap="none" lIns="18288" rIns="18288" tIns="18288" bIns="18288" anchor="t">
            <a:spAutoFit/>
          </a:bodyPr>
          <a:lstStyle/>
          <a:p>
            <a:pPr algn="ctr"/>
            <a:r>
              <a:rPr sz="900" b="1">
                <a:solidFill>
                  <a:srgbClr val="070A10"/>
                </a:solidFill>
                <a:latin typeface="Aptos"/>
              </a:rPr>
              <a:t>02</a:t>
            </a:r>
          </a:p>
        </p:txBody>
      </p:sp>
      <p:sp>
        <p:nvSpPr>
          <p:cNvPr id="15" name="TextBox 14"/>
          <p:cNvSpPr txBox="1"/>
          <p:nvPr/>
        </p:nvSpPr>
        <p:spPr>
          <a:xfrm>
            <a:off x="5056632" y="1591056"/>
            <a:ext cx="2423160" cy="256032"/>
          </a:xfrm>
          <a:prstGeom prst="rect">
            <a:avLst/>
          </a:prstGeom>
          <a:noFill/>
        </p:spPr>
        <p:txBody>
          <a:bodyPr wrap="none" lIns="18288" rIns="18288" tIns="18288" bIns="18288" anchor="t">
            <a:spAutoFit/>
          </a:bodyPr>
          <a:lstStyle/>
          <a:p>
            <a:pPr algn="l"/>
            <a:r>
              <a:rPr sz="1250" b="1">
                <a:solidFill>
                  <a:srgbClr val="F5F7FA"/>
                </a:solidFill>
                <a:latin typeface="Aptos"/>
              </a:rPr>
              <a:t>QUERY</a:t>
            </a:r>
          </a:p>
        </p:txBody>
      </p:sp>
      <p:sp>
        <p:nvSpPr>
          <p:cNvPr id="16" name="TextBox 15"/>
          <p:cNvSpPr txBox="1"/>
          <p:nvPr/>
        </p:nvSpPr>
        <p:spPr>
          <a:xfrm>
            <a:off x="4434840" y="2130552"/>
            <a:ext cx="3127248" cy="713232"/>
          </a:xfrm>
          <a:prstGeom prst="rect">
            <a:avLst/>
          </a:prstGeom>
          <a:noFill/>
        </p:spPr>
        <p:txBody>
          <a:bodyPr wrap="none" lIns="18288" rIns="18288" tIns="18288" bIns="18288" anchor="t">
            <a:spAutoFit/>
          </a:bodyPr>
          <a:lstStyle/>
          <a:p>
            <a:pPr algn="l"/>
            <a:r>
              <a:rPr sz="950" b="0">
                <a:solidFill>
                  <a:srgbClr val="A5B1BF"/>
                </a:solidFill>
                <a:latin typeface="Aptos"/>
              </a:rPr>
              <a:t>Use WHERE, GROUP BY, HAVING and ORDER BY to filter and summarize data.</a:t>
            </a:r>
          </a:p>
        </p:txBody>
      </p:sp>
      <p:sp>
        <p:nvSpPr>
          <p:cNvPr id="17" name="Rounded Rectangle 16"/>
          <p:cNvSpPr/>
          <p:nvPr/>
        </p:nvSpPr>
        <p:spPr>
          <a:xfrm>
            <a:off x="8037576" y="1417320"/>
            <a:ext cx="3456432" cy="16276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02168" y="1581912"/>
            <a:ext cx="475488" cy="475488"/>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8" y="1709928"/>
            <a:ext cx="475488" cy="182880"/>
          </a:xfrm>
          <a:prstGeom prst="rect">
            <a:avLst/>
          </a:prstGeom>
          <a:noFill/>
        </p:spPr>
        <p:txBody>
          <a:bodyPr wrap="none" lIns="18288" rIns="18288" tIns="18288" bIns="18288" anchor="t">
            <a:spAutoFit/>
          </a:bodyPr>
          <a:lstStyle/>
          <a:p>
            <a:pPr algn="ctr"/>
            <a:r>
              <a:rPr sz="900" b="1">
                <a:solidFill>
                  <a:srgbClr val="070A10"/>
                </a:solidFill>
                <a:latin typeface="Aptos"/>
              </a:rPr>
              <a:t>03</a:t>
            </a:r>
          </a:p>
        </p:txBody>
      </p:sp>
      <p:sp>
        <p:nvSpPr>
          <p:cNvPr id="20" name="TextBox 19"/>
          <p:cNvSpPr txBox="1"/>
          <p:nvPr/>
        </p:nvSpPr>
        <p:spPr>
          <a:xfrm>
            <a:off x="8823960" y="1591056"/>
            <a:ext cx="2423160" cy="256032"/>
          </a:xfrm>
          <a:prstGeom prst="rect">
            <a:avLst/>
          </a:prstGeom>
          <a:noFill/>
        </p:spPr>
        <p:txBody>
          <a:bodyPr wrap="none" lIns="18288" rIns="18288" tIns="18288" bIns="18288" anchor="t">
            <a:spAutoFit/>
          </a:bodyPr>
          <a:lstStyle/>
          <a:p>
            <a:pPr algn="l"/>
            <a:r>
              <a:rPr sz="1250" b="1">
                <a:solidFill>
                  <a:srgbClr val="F5F7FA"/>
                </a:solidFill>
                <a:latin typeface="Aptos"/>
              </a:rPr>
              <a:t>CALCULATE</a:t>
            </a:r>
          </a:p>
        </p:txBody>
      </p:sp>
      <p:sp>
        <p:nvSpPr>
          <p:cNvPr id="21" name="TextBox 20"/>
          <p:cNvSpPr txBox="1"/>
          <p:nvPr/>
        </p:nvSpPr>
        <p:spPr>
          <a:xfrm>
            <a:off x="8202168" y="2130552"/>
            <a:ext cx="3127248" cy="713232"/>
          </a:xfrm>
          <a:prstGeom prst="rect">
            <a:avLst/>
          </a:prstGeom>
          <a:noFill/>
        </p:spPr>
        <p:txBody>
          <a:bodyPr wrap="none" lIns="18288" rIns="18288" tIns="18288" bIns="18288" anchor="t">
            <a:spAutoFit/>
          </a:bodyPr>
          <a:lstStyle/>
          <a:p>
            <a:pPr algn="l"/>
            <a:r>
              <a:rPr sz="950" b="0">
                <a:solidFill>
                  <a:srgbClr val="A5B1BF"/>
                </a:solidFill>
                <a:latin typeface="Aptos"/>
              </a:rPr>
              <a:t>Apply SUM, COUNT and AVG for business calculations.</a:t>
            </a:r>
          </a:p>
        </p:txBody>
      </p:sp>
      <p:sp>
        <p:nvSpPr>
          <p:cNvPr id="22" name="Rounded Rectangle 21"/>
          <p:cNvSpPr/>
          <p:nvPr/>
        </p:nvSpPr>
        <p:spPr>
          <a:xfrm>
            <a:off x="502920" y="3474720"/>
            <a:ext cx="3456432" cy="16276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7512" y="3639312"/>
            <a:ext cx="475488" cy="475488"/>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3767328"/>
            <a:ext cx="475488" cy="182880"/>
          </a:xfrm>
          <a:prstGeom prst="rect">
            <a:avLst/>
          </a:prstGeom>
          <a:noFill/>
        </p:spPr>
        <p:txBody>
          <a:bodyPr wrap="none" lIns="18288" rIns="18288" tIns="18288" bIns="18288" anchor="t">
            <a:spAutoFit/>
          </a:bodyPr>
          <a:lstStyle/>
          <a:p>
            <a:pPr algn="ctr"/>
            <a:r>
              <a:rPr sz="900" b="1">
                <a:solidFill>
                  <a:srgbClr val="070A10"/>
                </a:solidFill>
                <a:latin typeface="Aptos"/>
              </a:rPr>
              <a:t>04</a:t>
            </a:r>
          </a:p>
        </p:txBody>
      </p:sp>
      <p:sp>
        <p:nvSpPr>
          <p:cNvPr id="25" name="TextBox 24"/>
          <p:cNvSpPr txBox="1"/>
          <p:nvPr/>
        </p:nvSpPr>
        <p:spPr>
          <a:xfrm>
            <a:off x="1289304" y="3648456"/>
            <a:ext cx="2423160" cy="256032"/>
          </a:xfrm>
          <a:prstGeom prst="rect">
            <a:avLst/>
          </a:prstGeom>
          <a:noFill/>
        </p:spPr>
        <p:txBody>
          <a:bodyPr wrap="none" lIns="18288" rIns="18288" tIns="18288" bIns="18288" anchor="t">
            <a:spAutoFit/>
          </a:bodyPr>
          <a:lstStyle/>
          <a:p>
            <a:pPr algn="l"/>
            <a:r>
              <a:rPr sz="1250" b="1">
                <a:solidFill>
                  <a:srgbClr val="F5F7FA"/>
                </a:solidFill>
                <a:latin typeface="Aptos"/>
              </a:rPr>
              <a:t>COMBINE</a:t>
            </a:r>
          </a:p>
        </p:txBody>
      </p:sp>
      <p:sp>
        <p:nvSpPr>
          <p:cNvPr id="26" name="TextBox 25"/>
          <p:cNvSpPr txBox="1"/>
          <p:nvPr/>
        </p:nvSpPr>
        <p:spPr>
          <a:xfrm>
            <a:off x="667512" y="4187952"/>
            <a:ext cx="3127248" cy="713232"/>
          </a:xfrm>
          <a:prstGeom prst="rect">
            <a:avLst/>
          </a:prstGeom>
          <a:noFill/>
        </p:spPr>
        <p:txBody>
          <a:bodyPr wrap="none" lIns="18288" rIns="18288" tIns="18288" bIns="18288" anchor="t">
            <a:spAutoFit/>
          </a:bodyPr>
          <a:lstStyle/>
          <a:p>
            <a:pPr algn="l"/>
            <a:r>
              <a:rPr sz="950" b="0">
                <a:solidFill>
                  <a:srgbClr val="A5B1BF"/>
                </a:solidFill>
                <a:latin typeface="Aptos"/>
              </a:rPr>
              <a:t>Use JOINs and subqueries to answer complex business questions.</a:t>
            </a:r>
          </a:p>
        </p:txBody>
      </p:sp>
      <p:sp>
        <p:nvSpPr>
          <p:cNvPr id="27" name="Rounded Rectangle 26"/>
          <p:cNvSpPr/>
          <p:nvPr/>
        </p:nvSpPr>
        <p:spPr>
          <a:xfrm>
            <a:off x="4270248" y="3474720"/>
            <a:ext cx="3456432" cy="16276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34840" y="3639312"/>
            <a:ext cx="475488" cy="475488"/>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3767328"/>
            <a:ext cx="475488" cy="182880"/>
          </a:xfrm>
          <a:prstGeom prst="rect">
            <a:avLst/>
          </a:prstGeom>
          <a:noFill/>
        </p:spPr>
        <p:txBody>
          <a:bodyPr wrap="none" lIns="18288" rIns="18288" tIns="18288" bIns="18288" anchor="t">
            <a:spAutoFit/>
          </a:bodyPr>
          <a:lstStyle/>
          <a:p>
            <a:pPr algn="ctr"/>
            <a:r>
              <a:rPr sz="900" b="1">
                <a:solidFill>
                  <a:srgbClr val="070A10"/>
                </a:solidFill>
                <a:latin typeface="Aptos"/>
              </a:rPr>
              <a:t>05</a:t>
            </a:r>
          </a:p>
        </p:txBody>
      </p:sp>
      <p:sp>
        <p:nvSpPr>
          <p:cNvPr id="30" name="TextBox 29"/>
          <p:cNvSpPr txBox="1"/>
          <p:nvPr/>
        </p:nvSpPr>
        <p:spPr>
          <a:xfrm>
            <a:off x="5056632" y="3648456"/>
            <a:ext cx="2423160" cy="256032"/>
          </a:xfrm>
          <a:prstGeom prst="rect">
            <a:avLst/>
          </a:prstGeom>
          <a:noFill/>
        </p:spPr>
        <p:txBody>
          <a:bodyPr wrap="none" lIns="18288" rIns="18288" tIns="18288" bIns="18288" anchor="t">
            <a:spAutoFit/>
          </a:bodyPr>
          <a:lstStyle/>
          <a:p>
            <a:pPr algn="l"/>
            <a:r>
              <a:rPr sz="1250" b="1">
                <a:solidFill>
                  <a:srgbClr val="F5F7FA"/>
                </a:solidFill>
                <a:latin typeface="Aptos"/>
              </a:rPr>
              <a:t>RANK</a:t>
            </a:r>
          </a:p>
        </p:txBody>
      </p:sp>
      <p:sp>
        <p:nvSpPr>
          <p:cNvPr id="31" name="TextBox 30"/>
          <p:cNvSpPr txBox="1"/>
          <p:nvPr/>
        </p:nvSpPr>
        <p:spPr>
          <a:xfrm>
            <a:off x="4434840" y="4187952"/>
            <a:ext cx="3127248" cy="713232"/>
          </a:xfrm>
          <a:prstGeom prst="rect">
            <a:avLst/>
          </a:prstGeom>
          <a:noFill/>
        </p:spPr>
        <p:txBody>
          <a:bodyPr wrap="none" lIns="18288" rIns="18288" tIns="18288" bIns="18288" anchor="t">
            <a:spAutoFit/>
          </a:bodyPr>
          <a:lstStyle/>
          <a:p>
            <a:pPr algn="l"/>
            <a:r>
              <a:rPr sz="950" b="0">
                <a:solidFill>
                  <a:srgbClr val="A5B1BF"/>
                </a:solidFill>
                <a:latin typeface="Aptos"/>
              </a:rPr>
              <a:t>Use RANK() to rank customers by total spending.</a:t>
            </a:r>
          </a:p>
        </p:txBody>
      </p:sp>
      <p:sp>
        <p:nvSpPr>
          <p:cNvPr id="32" name="Rounded Rectangle 31"/>
          <p:cNvSpPr/>
          <p:nvPr/>
        </p:nvSpPr>
        <p:spPr>
          <a:xfrm>
            <a:off x="8037576" y="3474720"/>
            <a:ext cx="3456432" cy="1627632"/>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202168" y="3639312"/>
            <a:ext cx="475488" cy="475488"/>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3767328"/>
            <a:ext cx="475488" cy="182880"/>
          </a:xfrm>
          <a:prstGeom prst="rect">
            <a:avLst/>
          </a:prstGeom>
          <a:noFill/>
        </p:spPr>
        <p:txBody>
          <a:bodyPr wrap="none" lIns="18288" rIns="18288" tIns="18288" bIns="18288" anchor="t">
            <a:spAutoFit/>
          </a:bodyPr>
          <a:lstStyle/>
          <a:p>
            <a:pPr algn="ctr"/>
            <a:r>
              <a:rPr sz="900" b="1">
                <a:solidFill>
                  <a:srgbClr val="070A10"/>
                </a:solidFill>
                <a:latin typeface="Aptos"/>
              </a:rPr>
              <a:t>06</a:t>
            </a:r>
          </a:p>
        </p:txBody>
      </p:sp>
      <p:sp>
        <p:nvSpPr>
          <p:cNvPr id="35" name="TextBox 34"/>
          <p:cNvSpPr txBox="1"/>
          <p:nvPr/>
        </p:nvSpPr>
        <p:spPr>
          <a:xfrm>
            <a:off x="8823960" y="3648456"/>
            <a:ext cx="2423160" cy="256032"/>
          </a:xfrm>
          <a:prstGeom prst="rect">
            <a:avLst/>
          </a:prstGeom>
          <a:noFill/>
        </p:spPr>
        <p:txBody>
          <a:bodyPr wrap="none" lIns="18288" rIns="18288" tIns="18288" bIns="18288" anchor="t">
            <a:spAutoFit/>
          </a:bodyPr>
          <a:lstStyle/>
          <a:p>
            <a:pPr algn="l"/>
            <a:r>
              <a:rPr sz="1250" b="1">
                <a:solidFill>
                  <a:srgbClr val="F5F7FA"/>
                </a:solidFill>
                <a:latin typeface="Aptos"/>
              </a:rPr>
              <a:t>NORMALIZE</a:t>
            </a:r>
          </a:p>
        </p:txBody>
      </p:sp>
      <p:sp>
        <p:nvSpPr>
          <p:cNvPr id="36" name="TextBox 35"/>
          <p:cNvSpPr txBox="1"/>
          <p:nvPr/>
        </p:nvSpPr>
        <p:spPr>
          <a:xfrm>
            <a:off x="8202168" y="4187952"/>
            <a:ext cx="3127248" cy="713232"/>
          </a:xfrm>
          <a:prstGeom prst="rect">
            <a:avLst/>
          </a:prstGeom>
          <a:noFill/>
        </p:spPr>
        <p:txBody>
          <a:bodyPr wrap="none" lIns="18288" rIns="18288" tIns="18288" bIns="18288" anchor="t">
            <a:spAutoFit/>
          </a:bodyPr>
          <a:lstStyle/>
          <a:p>
            <a:pPr algn="l"/>
            <a:r>
              <a:rPr sz="950" b="0">
                <a:solidFill>
                  <a:srgbClr val="A5B1BF"/>
                </a:solidFill>
                <a:latin typeface="Aptos"/>
              </a:rPr>
              <a:t>Normalize product category information toward 3NF using a separate Category table and foreign-key relationship.</a:t>
            </a:r>
          </a:p>
        </p:txBody>
      </p:sp>
      <p:sp>
        <p:nvSpPr>
          <p:cNvPr id="37" name="TextBox 36"/>
          <p:cNvSpPr txBox="1"/>
          <p:nvPr/>
        </p:nvSpPr>
        <p:spPr>
          <a:xfrm>
            <a:off x="1417320" y="5669280"/>
            <a:ext cx="9418320" cy="384048"/>
          </a:xfrm>
          <a:prstGeom prst="rect">
            <a:avLst/>
          </a:prstGeom>
          <a:noFill/>
        </p:spPr>
        <p:txBody>
          <a:bodyPr wrap="none" lIns="18288" rIns="18288" tIns="18288" bIns="18288" anchor="t">
            <a:spAutoFit/>
          </a:bodyPr>
          <a:lstStyle/>
          <a:p>
            <a:pPr algn="ctr"/>
            <a:r>
              <a:rPr sz="1500" b="1">
                <a:solidFill>
                  <a:srgbClr val="FF9900"/>
                </a:solidFill>
                <a:latin typeface="Aptos"/>
              </a:rPr>
              <a:t>SQL → Clean Structure → Analysis → Ranking → Business Insight</a:t>
            </a:r>
          </a:p>
        </p:txBody>
      </p:sp>
      <p:sp>
        <p:nvSpPr>
          <p:cNvPr id="38" name="Rectangle 37"/>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40" name="TextBox 39"/>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RESULTS</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05</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30352" y="1417320"/>
            <a:ext cx="5321808" cy="118872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417320"/>
            <a:ext cx="54864" cy="1188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81912"/>
            <a:ext cx="4910328" cy="274320"/>
          </a:xfrm>
          <a:prstGeom prst="rect">
            <a:avLst/>
          </a:prstGeom>
          <a:noFill/>
        </p:spPr>
        <p:txBody>
          <a:bodyPr wrap="none" lIns="18288" rIns="18288" tIns="18288" bIns="18288" anchor="t">
            <a:spAutoFit/>
          </a:bodyPr>
          <a:lstStyle/>
          <a:p>
            <a:pPr algn="l"/>
            <a:r>
              <a:rPr sz="1400" b="1">
                <a:solidFill>
                  <a:srgbClr val="F5F7FA"/>
                </a:solidFill>
                <a:latin typeface="Aptos"/>
              </a:rPr>
              <a:t>CUSTOMER VALUE</a:t>
            </a:r>
          </a:p>
        </p:txBody>
      </p:sp>
      <p:sp>
        <p:nvSpPr>
          <p:cNvPr id="10" name="TextBox 9"/>
          <p:cNvSpPr txBox="1"/>
          <p:nvPr/>
        </p:nvSpPr>
        <p:spPr>
          <a:xfrm>
            <a:off x="758952" y="1947672"/>
            <a:ext cx="4910328" cy="530352"/>
          </a:xfrm>
          <a:prstGeom prst="rect">
            <a:avLst/>
          </a:prstGeom>
          <a:noFill/>
        </p:spPr>
        <p:txBody>
          <a:bodyPr wrap="none" lIns="18288" rIns="18288" tIns="18288" bIns="18288" anchor="t">
            <a:spAutoFit/>
          </a:bodyPr>
          <a:lstStyle/>
          <a:p>
            <a:pPr algn="l"/>
            <a:r>
              <a:rPr sz="1120" b="0">
                <a:solidFill>
                  <a:srgbClr val="A5B1BF"/>
                </a:solidFill>
                <a:latin typeface="Aptos"/>
              </a:rPr>
              <a:t>High-value customers spending more than ₹5,000 were identified and customers were ranked by total spending.</a:t>
            </a:r>
          </a:p>
        </p:txBody>
      </p:sp>
      <p:sp>
        <p:nvSpPr>
          <p:cNvPr id="11" name="Rounded Rectangle 10"/>
          <p:cNvSpPr/>
          <p:nvPr/>
        </p:nvSpPr>
        <p:spPr>
          <a:xfrm>
            <a:off x="6153912" y="1417320"/>
            <a:ext cx="5321808" cy="118872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417320"/>
            <a:ext cx="54864" cy="1188720"/>
          </a:xfrm>
          <a:prstGeom prst="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581912"/>
            <a:ext cx="4910328" cy="274320"/>
          </a:xfrm>
          <a:prstGeom prst="rect">
            <a:avLst/>
          </a:prstGeom>
          <a:noFill/>
        </p:spPr>
        <p:txBody>
          <a:bodyPr wrap="none" lIns="18288" rIns="18288" tIns="18288" bIns="18288" anchor="t">
            <a:spAutoFit/>
          </a:bodyPr>
          <a:lstStyle/>
          <a:p>
            <a:pPr algn="l"/>
            <a:r>
              <a:rPr sz="1400" b="1">
                <a:solidFill>
                  <a:srgbClr val="F5F7FA"/>
                </a:solidFill>
                <a:latin typeface="Aptos"/>
              </a:rPr>
              <a:t>PRODUCT PERFORMANCE</a:t>
            </a:r>
          </a:p>
        </p:txBody>
      </p:sp>
      <p:sp>
        <p:nvSpPr>
          <p:cNvPr id="14" name="TextBox 13"/>
          <p:cNvSpPr txBox="1"/>
          <p:nvPr/>
        </p:nvSpPr>
        <p:spPr>
          <a:xfrm>
            <a:off x="6382512" y="1947672"/>
            <a:ext cx="4910328" cy="530352"/>
          </a:xfrm>
          <a:prstGeom prst="rect">
            <a:avLst/>
          </a:prstGeom>
          <a:noFill/>
        </p:spPr>
        <p:txBody>
          <a:bodyPr wrap="none" lIns="18288" rIns="18288" tIns="18288" bIns="18288" anchor="t">
            <a:spAutoFit/>
          </a:bodyPr>
          <a:lstStyle/>
          <a:p>
            <a:pPr algn="l"/>
            <a:r>
              <a:rPr sz="1120" b="0">
                <a:solidFill>
                  <a:srgbClr val="A5B1BF"/>
                </a:solidFill>
                <a:latin typeface="Aptos"/>
              </a:rPr>
              <a:t>The top 3 products by sales revenue were identified using Order Details and Products data.</a:t>
            </a:r>
          </a:p>
        </p:txBody>
      </p:sp>
      <p:sp>
        <p:nvSpPr>
          <p:cNvPr id="15" name="Rounded Rectangle 14"/>
          <p:cNvSpPr/>
          <p:nvPr/>
        </p:nvSpPr>
        <p:spPr>
          <a:xfrm>
            <a:off x="530352" y="2880360"/>
            <a:ext cx="5321808" cy="118872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880360"/>
            <a:ext cx="54864" cy="1188720"/>
          </a:xfrm>
          <a:prstGeom prst="rect">
            <a:avLst/>
          </a:prstGeom>
          <a:solidFill>
            <a:srgbClr val="31C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044952"/>
            <a:ext cx="4910328" cy="274320"/>
          </a:xfrm>
          <a:prstGeom prst="rect">
            <a:avLst/>
          </a:prstGeom>
          <a:noFill/>
        </p:spPr>
        <p:txBody>
          <a:bodyPr wrap="none" lIns="18288" rIns="18288" tIns="18288" bIns="18288" anchor="t">
            <a:spAutoFit/>
          </a:bodyPr>
          <a:lstStyle/>
          <a:p>
            <a:pPr algn="l"/>
            <a:r>
              <a:rPr sz="1400" b="1">
                <a:solidFill>
                  <a:srgbClr val="F5F7FA"/>
                </a:solidFill>
                <a:latin typeface="Aptos"/>
              </a:rPr>
              <a:t>CATEGORY DEMAND</a:t>
            </a:r>
          </a:p>
        </p:txBody>
      </p:sp>
      <p:sp>
        <p:nvSpPr>
          <p:cNvPr id="18" name="TextBox 17"/>
          <p:cNvSpPr txBox="1"/>
          <p:nvPr/>
        </p:nvSpPr>
        <p:spPr>
          <a:xfrm>
            <a:off x="758952" y="3410712"/>
            <a:ext cx="4910328" cy="530352"/>
          </a:xfrm>
          <a:prstGeom prst="rect">
            <a:avLst/>
          </a:prstGeom>
          <a:noFill/>
        </p:spPr>
        <p:txBody>
          <a:bodyPr wrap="none" lIns="18288" rIns="18288" tIns="18288" bIns="18288" anchor="t">
            <a:spAutoFit/>
          </a:bodyPr>
          <a:lstStyle/>
          <a:p>
            <a:pPr algn="l"/>
            <a:r>
              <a:rPr sz="1120" b="0">
                <a:solidFill>
                  <a:srgbClr val="A5B1BF"/>
                </a:solidFill>
                <a:latin typeface="Aptos"/>
              </a:rPr>
              <a:t>The top 3 most frequently ordered product categories were identified.</a:t>
            </a:r>
          </a:p>
        </p:txBody>
      </p:sp>
      <p:sp>
        <p:nvSpPr>
          <p:cNvPr id="19" name="Rounded Rectangle 18"/>
          <p:cNvSpPr/>
          <p:nvPr/>
        </p:nvSpPr>
        <p:spPr>
          <a:xfrm>
            <a:off x="6153912" y="2880360"/>
            <a:ext cx="5321808" cy="118872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2880360"/>
            <a:ext cx="54864" cy="1188720"/>
          </a:xfrm>
          <a:prstGeom prst="rect">
            <a:avLst/>
          </a:prstGeom>
          <a:solidFill>
            <a:srgbClr val="E86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3044952"/>
            <a:ext cx="4910328" cy="274320"/>
          </a:xfrm>
          <a:prstGeom prst="rect">
            <a:avLst/>
          </a:prstGeom>
          <a:noFill/>
        </p:spPr>
        <p:txBody>
          <a:bodyPr wrap="none" lIns="18288" rIns="18288" tIns="18288" bIns="18288" anchor="t">
            <a:spAutoFit/>
          </a:bodyPr>
          <a:lstStyle/>
          <a:p>
            <a:pPr algn="l"/>
            <a:r>
              <a:rPr sz="1400" b="1">
                <a:solidFill>
                  <a:srgbClr val="F5F7FA"/>
                </a:solidFill>
                <a:latin typeface="Aptos"/>
              </a:rPr>
              <a:t>PRIME ANALYSIS</a:t>
            </a:r>
          </a:p>
        </p:txBody>
      </p:sp>
      <p:sp>
        <p:nvSpPr>
          <p:cNvPr id="22" name="TextBox 21"/>
          <p:cNvSpPr txBox="1"/>
          <p:nvPr/>
        </p:nvSpPr>
        <p:spPr>
          <a:xfrm>
            <a:off x="6382512" y="3410712"/>
            <a:ext cx="4910328" cy="530352"/>
          </a:xfrm>
          <a:prstGeom prst="rect">
            <a:avLst/>
          </a:prstGeom>
          <a:noFill/>
        </p:spPr>
        <p:txBody>
          <a:bodyPr wrap="none" lIns="18288" rIns="18288" tIns="18288" bIns="18288" anchor="t">
            <a:spAutoFit/>
          </a:bodyPr>
          <a:lstStyle/>
          <a:p>
            <a:pPr algn="l"/>
            <a:r>
              <a:rPr sz="1120" b="0">
                <a:solidFill>
                  <a:srgbClr val="A5B1BF"/>
                </a:solidFill>
                <a:latin typeface="Aptos"/>
              </a:rPr>
              <a:t>Cities with the highest concentration of Prime members were analyzed.</a:t>
            </a:r>
          </a:p>
        </p:txBody>
      </p:sp>
      <p:sp>
        <p:nvSpPr>
          <p:cNvPr id="23" name="Rounded Rectangle 22"/>
          <p:cNvSpPr/>
          <p:nvPr/>
        </p:nvSpPr>
        <p:spPr>
          <a:xfrm>
            <a:off x="530352" y="4343400"/>
            <a:ext cx="5321808" cy="118872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4343400"/>
            <a:ext cx="54864" cy="1188720"/>
          </a:xfrm>
          <a:prstGeom prst="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4507992"/>
            <a:ext cx="4910328" cy="274320"/>
          </a:xfrm>
          <a:prstGeom prst="rect">
            <a:avLst/>
          </a:prstGeom>
          <a:noFill/>
        </p:spPr>
        <p:txBody>
          <a:bodyPr wrap="none" lIns="18288" rIns="18288" tIns="18288" bIns="18288" anchor="t">
            <a:spAutoFit/>
          </a:bodyPr>
          <a:lstStyle/>
          <a:p>
            <a:pPr algn="l"/>
            <a:r>
              <a:rPr sz="1400" b="1">
                <a:solidFill>
                  <a:srgbClr val="F5F7FA"/>
                </a:solidFill>
                <a:latin typeface="Aptos"/>
              </a:rPr>
              <a:t>ORDER ANALYSIS</a:t>
            </a:r>
          </a:p>
        </p:txBody>
      </p:sp>
      <p:sp>
        <p:nvSpPr>
          <p:cNvPr id="26" name="TextBox 25"/>
          <p:cNvSpPr txBox="1"/>
          <p:nvPr/>
        </p:nvSpPr>
        <p:spPr>
          <a:xfrm>
            <a:off x="758952" y="4873752"/>
            <a:ext cx="4910328" cy="530352"/>
          </a:xfrm>
          <a:prstGeom prst="rect">
            <a:avLst/>
          </a:prstGeom>
          <a:noFill/>
        </p:spPr>
        <p:txBody>
          <a:bodyPr wrap="none" lIns="18288" rIns="18288" tIns="18288" bIns="18288" anchor="t">
            <a:spAutoFit/>
          </a:bodyPr>
          <a:lstStyle/>
          <a:p>
            <a:pPr algn="l"/>
            <a:r>
              <a:rPr sz="1120" b="0">
                <a:solidFill>
                  <a:srgbClr val="A5B1BF"/>
                </a:solidFill>
                <a:latin typeface="Aptos"/>
              </a:rPr>
              <a:t>Orders and order details were joined to analyze order-level product and revenue information.</a:t>
            </a:r>
          </a:p>
        </p:txBody>
      </p:sp>
      <p:sp>
        <p:nvSpPr>
          <p:cNvPr id="27" name="Rounded Rectangle 26"/>
          <p:cNvSpPr/>
          <p:nvPr/>
        </p:nvSpPr>
        <p:spPr>
          <a:xfrm>
            <a:off x="6153912" y="4343400"/>
            <a:ext cx="5321808" cy="118872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53912" y="4343400"/>
            <a:ext cx="54864" cy="1188720"/>
          </a:xfrm>
          <a:prstGeom prst="rect">
            <a:avLst/>
          </a:prstGeom>
          <a:solidFill>
            <a:srgbClr val="31C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4507992"/>
            <a:ext cx="4910328" cy="274320"/>
          </a:xfrm>
          <a:prstGeom prst="rect">
            <a:avLst/>
          </a:prstGeom>
          <a:noFill/>
        </p:spPr>
        <p:txBody>
          <a:bodyPr wrap="none" lIns="18288" rIns="18288" tIns="18288" bIns="18288" anchor="t">
            <a:spAutoFit/>
          </a:bodyPr>
          <a:lstStyle/>
          <a:p>
            <a:pPr algn="l"/>
            <a:r>
              <a:rPr sz="1400" b="1">
                <a:solidFill>
                  <a:srgbClr val="F5F7FA"/>
                </a:solidFill>
                <a:latin typeface="Aptos"/>
              </a:rPr>
              <a:t>DATA INTEGRITY</a:t>
            </a:r>
          </a:p>
        </p:txBody>
      </p:sp>
      <p:sp>
        <p:nvSpPr>
          <p:cNvPr id="30" name="TextBox 29"/>
          <p:cNvSpPr txBox="1"/>
          <p:nvPr/>
        </p:nvSpPr>
        <p:spPr>
          <a:xfrm>
            <a:off x="6382512" y="4873752"/>
            <a:ext cx="4910328" cy="530352"/>
          </a:xfrm>
          <a:prstGeom prst="rect">
            <a:avLst/>
          </a:prstGeom>
          <a:noFill/>
        </p:spPr>
        <p:txBody>
          <a:bodyPr wrap="none" lIns="18288" rIns="18288" tIns="18288" bIns="18288" anchor="t">
            <a:spAutoFit/>
          </a:bodyPr>
          <a:lstStyle/>
          <a:p>
            <a:pPr algn="l"/>
            <a:r>
              <a:rPr sz="1120" b="0">
                <a:solidFill>
                  <a:srgbClr val="A5B1BF"/>
                </a:solidFill>
                <a:latin typeface="Aptos"/>
              </a:rPr>
              <a:t>Primary key, unique, CHECK, DEFAULT and foreign-key constraints improved data integrity.</a:t>
            </a:r>
          </a:p>
        </p:txBody>
      </p:sp>
      <p:sp>
        <p:nvSpPr>
          <p:cNvPr id="31" name="Rectangle 30"/>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33" name="TextBox 32"/>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PROJECT EVALUATION METRICS</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06</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17320"/>
            <a:ext cx="3456432" cy="169164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3456432" cy="7315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73352"/>
            <a:ext cx="3054096" cy="274320"/>
          </a:xfrm>
          <a:prstGeom prst="rect">
            <a:avLst/>
          </a:prstGeom>
          <a:noFill/>
        </p:spPr>
        <p:txBody>
          <a:bodyPr wrap="none" lIns="18288" rIns="18288" tIns="18288" bIns="18288" anchor="t">
            <a:spAutoFit/>
          </a:bodyPr>
          <a:lstStyle/>
          <a:p>
            <a:pPr algn="l"/>
            <a:r>
              <a:rPr sz="1250" b="1">
                <a:solidFill>
                  <a:srgbClr val="F5F7FA"/>
                </a:solidFill>
                <a:latin typeface="Aptos"/>
              </a:rPr>
              <a:t>DATA INTEGRITY</a:t>
            </a:r>
          </a:p>
        </p:txBody>
      </p:sp>
      <p:sp>
        <p:nvSpPr>
          <p:cNvPr id="10" name="TextBox 9"/>
          <p:cNvSpPr txBox="1"/>
          <p:nvPr/>
        </p:nvSpPr>
        <p:spPr>
          <a:xfrm>
            <a:off x="704088" y="2130552"/>
            <a:ext cx="3054096" cy="640080"/>
          </a:xfrm>
          <a:prstGeom prst="rect">
            <a:avLst/>
          </a:prstGeom>
          <a:noFill/>
        </p:spPr>
        <p:txBody>
          <a:bodyPr wrap="none" lIns="18288" rIns="18288" tIns="18288" bIns="18288" anchor="t">
            <a:spAutoFit/>
          </a:bodyPr>
          <a:lstStyle/>
          <a:p>
            <a:pPr algn="l"/>
            <a:r>
              <a:rPr sz="980" b="0">
                <a:solidFill>
                  <a:srgbClr val="A5B1BF"/>
                </a:solidFill>
                <a:latin typeface="Aptos"/>
              </a:rPr>
              <a:t>Primary key, unique, CHECK, DEFAULT and foreign-key constraints.</a:t>
            </a:r>
          </a:p>
        </p:txBody>
      </p:sp>
      <p:sp>
        <p:nvSpPr>
          <p:cNvPr id="11" name="Rounded Rectangle 10"/>
          <p:cNvSpPr/>
          <p:nvPr/>
        </p:nvSpPr>
        <p:spPr>
          <a:xfrm>
            <a:off x="4270248" y="1417320"/>
            <a:ext cx="3456432" cy="169164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0248" y="1417320"/>
            <a:ext cx="3456432" cy="73152"/>
          </a:xfrm>
          <a:prstGeom prst="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1416" y="1673352"/>
            <a:ext cx="3054096" cy="274320"/>
          </a:xfrm>
          <a:prstGeom prst="rect">
            <a:avLst/>
          </a:prstGeom>
          <a:noFill/>
        </p:spPr>
        <p:txBody>
          <a:bodyPr wrap="none" lIns="18288" rIns="18288" tIns="18288" bIns="18288" anchor="t">
            <a:spAutoFit/>
          </a:bodyPr>
          <a:lstStyle/>
          <a:p>
            <a:pPr algn="l"/>
            <a:r>
              <a:rPr sz="1250" b="1">
                <a:solidFill>
                  <a:srgbClr val="F5F7FA"/>
                </a:solidFill>
                <a:latin typeface="Aptos"/>
              </a:rPr>
              <a:t>QUERY ACCURACY</a:t>
            </a:r>
          </a:p>
        </p:txBody>
      </p:sp>
      <p:sp>
        <p:nvSpPr>
          <p:cNvPr id="14" name="TextBox 13"/>
          <p:cNvSpPr txBox="1"/>
          <p:nvPr/>
        </p:nvSpPr>
        <p:spPr>
          <a:xfrm>
            <a:off x="4471416" y="2130552"/>
            <a:ext cx="3054096" cy="640080"/>
          </a:xfrm>
          <a:prstGeom prst="rect">
            <a:avLst/>
          </a:prstGeom>
          <a:noFill/>
        </p:spPr>
        <p:txBody>
          <a:bodyPr wrap="none" lIns="18288" rIns="18288" tIns="18288" bIns="18288" anchor="t">
            <a:spAutoFit/>
          </a:bodyPr>
          <a:lstStyle/>
          <a:p>
            <a:pPr algn="l"/>
            <a:r>
              <a:rPr sz="980" b="0">
                <a:solidFill>
                  <a:srgbClr val="A5B1BF"/>
                </a:solidFill>
                <a:latin typeface="Aptos"/>
              </a:rPr>
              <a:t>Correctness of filtering, aggregation, joins, subqueries and ranking.</a:t>
            </a:r>
          </a:p>
        </p:txBody>
      </p:sp>
      <p:sp>
        <p:nvSpPr>
          <p:cNvPr id="15" name="Rounded Rectangle 14"/>
          <p:cNvSpPr/>
          <p:nvPr/>
        </p:nvSpPr>
        <p:spPr>
          <a:xfrm>
            <a:off x="8037576" y="1417320"/>
            <a:ext cx="3456432" cy="169164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7576" y="1417320"/>
            <a:ext cx="3456432" cy="73152"/>
          </a:xfrm>
          <a:prstGeom prst="rect">
            <a:avLst/>
          </a:prstGeom>
          <a:solidFill>
            <a:srgbClr val="31C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1673352"/>
            <a:ext cx="3054096" cy="274320"/>
          </a:xfrm>
          <a:prstGeom prst="rect">
            <a:avLst/>
          </a:prstGeom>
          <a:noFill/>
        </p:spPr>
        <p:txBody>
          <a:bodyPr wrap="none" lIns="18288" rIns="18288" tIns="18288" bIns="18288" anchor="t">
            <a:spAutoFit/>
          </a:bodyPr>
          <a:lstStyle/>
          <a:p>
            <a:pPr algn="l"/>
            <a:r>
              <a:rPr sz="1250" b="1">
                <a:solidFill>
                  <a:srgbClr val="F5F7FA"/>
                </a:solidFill>
                <a:latin typeface="Aptos"/>
              </a:rPr>
              <a:t>BUSINESS INSIGHT</a:t>
            </a:r>
          </a:p>
        </p:txBody>
      </p:sp>
      <p:sp>
        <p:nvSpPr>
          <p:cNvPr id="18" name="TextBox 17"/>
          <p:cNvSpPr txBox="1"/>
          <p:nvPr/>
        </p:nvSpPr>
        <p:spPr>
          <a:xfrm>
            <a:off x="8238744" y="2130552"/>
            <a:ext cx="3054096" cy="640080"/>
          </a:xfrm>
          <a:prstGeom prst="rect">
            <a:avLst/>
          </a:prstGeom>
          <a:noFill/>
        </p:spPr>
        <p:txBody>
          <a:bodyPr wrap="none" lIns="18288" rIns="18288" tIns="18288" bIns="18288" anchor="t">
            <a:spAutoFit/>
          </a:bodyPr>
          <a:lstStyle/>
          <a:p>
            <a:pPr algn="l"/>
            <a:r>
              <a:rPr sz="980" b="0">
                <a:solidFill>
                  <a:srgbClr val="A5B1BF"/>
                </a:solidFill>
                <a:latin typeface="Aptos"/>
              </a:rPr>
              <a:t>Identify high-value customers, top products and popular categories.</a:t>
            </a:r>
          </a:p>
        </p:txBody>
      </p:sp>
      <p:sp>
        <p:nvSpPr>
          <p:cNvPr id="19" name="Rounded Rectangle 18"/>
          <p:cNvSpPr/>
          <p:nvPr/>
        </p:nvSpPr>
        <p:spPr>
          <a:xfrm>
            <a:off x="502920" y="3520439"/>
            <a:ext cx="3456432" cy="169164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520439"/>
            <a:ext cx="3456432" cy="73152"/>
          </a:xfrm>
          <a:prstGeom prst="rect">
            <a:avLst/>
          </a:prstGeom>
          <a:solidFill>
            <a:srgbClr val="E86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776472"/>
            <a:ext cx="3054096" cy="274320"/>
          </a:xfrm>
          <a:prstGeom prst="rect">
            <a:avLst/>
          </a:prstGeom>
          <a:noFill/>
        </p:spPr>
        <p:txBody>
          <a:bodyPr wrap="none" lIns="18288" rIns="18288" tIns="18288" bIns="18288" anchor="t">
            <a:spAutoFit/>
          </a:bodyPr>
          <a:lstStyle/>
          <a:p>
            <a:pPr algn="l"/>
            <a:r>
              <a:rPr sz="1250" b="1">
                <a:solidFill>
                  <a:srgbClr val="F5F7FA"/>
                </a:solidFill>
                <a:latin typeface="Aptos"/>
              </a:rPr>
              <a:t>DATA ORGANIZATION</a:t>
            </a:r>
          </a:p>
        </p:txBody>
      </p:sp>
      <p:sp>
        <p:nvSpPr>
          <p:cNvPr id="22" name="TextBox 21"/>
          <p:cNvSpPr txBox="1"/>
          <p:nvPr/>
        </p:nvSpPr>
        <p:spPr>
          <a:xfrm>
            <a:off x="704088" y="4233672"/>
            <a:ext cx="3054096" cy="640080"/>
          </a:xfrm>
          <a:prstGeom prst="rect">
            <a:avLst/>
          </a:prstGeom>
          <a:noFill/>
        </p:spPr>
        <p:txBody>
          <a:bodyPr wrap="none" lIns="18288" rIns="18288" tIns="18288" bIns="18288" anchor="t">
            <a:spAutoFit/>
          </a:bodyPr>
          <a:lstStyle/>
          <a:p>
            <a:pPr algn="l"/>
            <a:r>
              <a:rPr sz="980" b="0">
                <a:solidFill>
                  <a:srgbClr val="A5B1BF"/>
                </a:solidFill>
                <a:latin typeface="Aptos"/>
              </a:rPr>
              <a:t>Normalization of product category information toward Third Normal Form (3NF).</a:t>
            </a:r>
          </a:p>
        </p:txBody>
      </p:sp>
      <p:sp>
        <p:nvSpPr>
          <p:cNvPr id="23" name="Rounded Rectangle 22"/>
          <p:cNvSpPr/>
          <p:nvPr/>
        </p:nvSpPr>
        <p:spPr>
          <a:xfrm>
            <a:off x="4270248" y="3520439"/>
            <a:ext cx="3456432" cy="169164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70248" y="3520439"/>
            <a:ext cx="3456432" cy="73152"/>
          </a:xfrm>
          <a:prstGeom prst="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71416" y="3776472"/>
            <a:ext cx="3054096" cy="274320"/>
          </a:xfrm>
          <a:prstGeom prst="rect">
            <a:avLst/>
          </a:prstGeom>
          <a:noFill/>
        </p:spPr>
        <p:txBody>
          <a:bodyPr wrap="none" lIns="18288" rIns="18288" tIns="18288" bIns="18288" anchor="t">
            <a:spAutoFit/>
          </a:bodyPr>
          <a:lstStyle/>
          <a:p>
            <a:pPr algn="l"/>
            <a:r>
              <a:rPr sz="1250" b="1">
                <a:solidFill>
                  <a:srgbClr val="F5F7FA"/>
                </a:solidFill>
                <a:latin typeface="Aptos"/>
              </a:rPr>
              <a:t>QUERY EFFICIENCY</a:t>
            </a:r>
          </a:p>
        </p:txBody>
      </p:sp>
      <p:sp>
        <p:nvSpPr>
          <p:cNvPr id="26" name="TextBox 25"/>
          <p:cNvSpPr txBox="1"/>
          <p:nvPr/>
        </p:nvSpPr>
        <p:spPr>
          <a:xfrm>
            <a:off x="4471416" y="4233672"/>
            <a:ext cx="3054096" cy="640080"/>
          </a:xfrm>
          <a:prstGeom prst="rect">
            <a:avLst/>
          </a:prstGeom>
          <a:noFill/>
        </p:spPr>
        <p:txBody>
          <a:bodyPr wrap="none" lIns="18288" rIns="18288" tIns="18288" bIns="18288" anchor="t">
            <a:spAutoFit/>
          </a:bodyPr>
          <a:lstStyle/>
          <a:p>
            <a:pPr algn="l"/>
            <a:r>
              <a:rPr sz="980" b="0">
                <a:solidFill>
                  <a:srgbClr val="A5B1BF"/>
                </a:solidFill>
                <a:latin typeface="Aptos"/>
              </a:rPr>
              <a:t>Appropriate GROUP BY, ORDER BY, LIMIT and JOIN operations.</a:t>
            </a:r>
          </a:p>
        </p:txBody>
      </p:sp>
      <p:sp>
        <p:nvSpPr>
          <p:cNvPr id="27" name="Rounded Rectangle 26"/>
          <p:cNvSpPr/>
          <p:nvPr/>
        </p:nvSpPr>
        <p:spPr>
          <a:xfrm>
            <a:off x="8037576" y="3520439"/>
            <a:ext cx="3456432" cy="169164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7576" y="3520439"/>
            <a:ext cx="3456432" cy="73152"/>
          </a:xfrm>
          <a:prstGeom prst="rect">
            <a:avLst/>
          </a:prstGeom>
          <a:solidFill>
            <a:srgbClr val="31C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38744" y="3776472"/>
            <a:ext cx="3054096" cy="274320"/>
          </a:xfrm>
          <a:prstGeom prst="rect">
            <a:avLst/>
          </a:prstGeom>
          <a:noFill/>
        </p:spPr>
        <p:txBody>
          <a:bodyPr wrap="none" lIns="18288" rIns="18288" tIns="18288" bIns="18288" anchor="t">
            <a:spAutoFit/>
          </a:bodyPr>
          <a:lstStyle/>
          <a:p>
            <a:pPr algn="l"/>
            <a:r>
              <a:rPr sz="1250" b="1">
                <a:solidFill>
                  <a:srgbClr val="F5F7FA"/>
                </a:solidFill>
                <a:latin typeface="Aptos"/>
              </a:rPr>
              <a:t>COMPLETENESS</a:t>
            </a:r>
          </a:p>
        </p:txBody>
      </p:sp>
      <p:sp>
        <p:nvSpPr>
          <p:cNvPr id="30" name="TextBox 29"/>
          <p:cNvSpPr txBox="1"/>
          <p:nvPr/>
        </p:nvSpPr>
        <p:spPr>
          <a:xfrm>
            <a:off x="8238744" y="4233672"/>
            <a:ext cx="3054096" cy="640080"/>
          </a:xfrm>
          <a:prstGeom prst="rect">
            <a:avLst/>
          </a:prstGeom>
          <a:noFill/>
        </p:spPr>
        <p:txBody>
          <a:bodyPr wrap="none" lIns="18288" rIns="18288" tIns="18288" bIns="18288" anchor="t">
            <a:spAutoFit/>
          </a:bodyPr>
          <a:lstStyle/>
          <a:p>
            <a:pPr algn="l"/>
            <a:r>
              <a:rPr sz="980" b="0">
                <a:solidFill>
                  <a:srgbClr val="A5B1BF"/>
                </a:solidFill>
                <a:latin typeface="Aptos"/>
              </a:rPr>
              <a:t>Coverage of customer, order, product, review and supplier analysis.</a:t>
            </a:r>
          </a:p>
        </p:txBody>
      </p:sp>
      <p:sp>
        <p:nvSpPr>
          <p:cNvPr id="31" name="Rectangle 30"/>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33" name="TextBox 32"/>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TECHNICAL STACK</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07</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53312"/>
            <a:ext cx="5029200" cy="320040"/>
          </a:xfrm>
          <a:prstGeom prst="rect">
            <a:avLst/>
          </a:prstGeom>
          <a:noFill/>
        </p:spPr>
        <p:txBody>
          <a:bodyPr wrap="none" lIns="18288" rIns="18288" tIns="18288" bIns="18288" anchor="t">
            <a:spAutoFit/>
          </a:bodyPr>
          <a:lstStyle/>
          <a:p>
            <a:pPr algn="l"/>
            <a:r>
              <a:rPr sz="1400" b="1">
                <a:solidFill>
                  <a:srgbClr val="F5F7FA"/>
                </a:solidFill>
                <a:latin typeface="Aptos"/>
              </a:rPr>
              <a:t>Core SQL capabilities demonstrated</a:t>
            </a:r>
          </a:p>
        </p:txBody>
      </p:sp>
      <p:sp>
        <p:nvSpPr>
          <p:cNvPr id="8" name="Rounded Rectangle 7"/>
          <p:cNvSpPr/>
          <p:nvPr/>
        </p:nvSpPr>
        <p:spPr>
          <a:xfrm>
            <a:off x="530352" y="1810512"/>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929384"/>
            <a:ext cx="310896" cy="310896"/>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965960"/>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MySQL / SQL</a:t>
            </a:r>
          </a:p>
        </p:txBody>
      </p:sp>
      <p:sp>
        <p:nvSpPr>
          <p:cNvPr id="11" name="Rounded Rectangle 10"/>
          <p:cNvSpPr/>
          <p:nvPr/>
        </p:nvSpPr>
        <p:spPr>
          <a:xfrm>
            <a:off x="6126480" y="1810512"/>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6" y="1929384"/>
            <a:ext cx="310896" cy="310896"/>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3408" y="1965960"/>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DDL and DML</a:t>
            </a:r>
          </a:p>
        </p:txBody>
      </p:sp>
      <p:sp>
        <p:nvSpPr>
          <p:cNvPr id="14" name="Rounded Rectangle 13"/>
          <p:cNvSpPr/>
          <p:nvPr/>
        </p:nvSpPr>
        <p:spPr>
          <a:xfrm>
            <a:off x="530352" y="2651760"/>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2770632"/>
            <a:ext cx="310896" cy="310896"/>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807208"/>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Primary Key and Foreign Key</a:t>
            </a:r>
          </a:p>
        </p:txBody>
      </p:sp>
      <p:sp>
        <p:nvSpPr>
          <p:cNvPr id="17" name="Rounded Rectangle 16"/>
          <p:cNvSpPr/>
          <p:nvPr/>
        </p:nvSpPr>
        <p:spPr>
          <a:xfrm>
            <a:off x="6126480" y="2651760"/>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54496" y="2770632"/>
            <a:ext cx="310896" cy="310896"/>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3408" y="2807208"/>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CHECK / UNIQUE / DEFAULT</a:t>
            </a:r>
          </a:p>
        </p:txBody>
      </p:sp>
      <p:sp>
        <p:nvSpPr>
          <p:cNvPr id="20" name="Rounded Rectangle 19"/>
          <p:cNvSpPr/>
          <p:nvPr/>
        </p:nvSpPr>
        <p:spPr>
          <a:xfrm>
            <a:off x="530352" y="3493008"/>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3611880"/>
            <a:ext cx="310896" cy="310896"/>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3648456"/>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JOINs</a:t>
            </a:r>
          </a:p>
        </p:txBody>
      </p:sp>
      <p:sp>
        <p:nvSpPr>
          <p:cNvPr id="23" name="Rounded Rectangle 22"/>
          <p:cNvSpPr/>
          <p:nvPr/>
        </p:nvSpPr>
        <p:spPr>
          <a:xfrm>
            <a:off x="6126480" y="3493008"/>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54496" y="3611880"/>
            <a:ext cx="310896" cy="310896"/>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8" y="3648456"/>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Subqueries and Nested Queries</a:t>
            </a:r>
          </a:p>
        </p:txBody>
      </p:sp>
      <p:sp>
        <p:nvSpPr>
          <p:cNvPr id="26" name="Rounded Rectangle 25"/>
          <p:cNvSpPr/>
          <p:nvPr/>
        </p:nvSpPr>
        <p:spPr>
          <a:xfrm>
            <a:off x="530352" y="4334256"/>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58368" y="4453128"/>
            <a:ext cx="310896" cy="310896"/>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489704"/>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Aggregate Functions</a:t>
            </a:r>
          </a:p>
        </p:txBody>
      </p:sp>
      <p:sp>
        <p:nvSpPr>
          <p:cNvPr id="29" name="Rounded Rectangle 28"/>
          <p:cNvSpPr/>
          <p:nvPr/>
        </p:nvSpPr>
        <p:spPr>
          <a:xfrm>
            <a:off x="6126480" y="4334256"/>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54496" y="4453128"/>
            <a:ext cx="310896" cy="310896"/>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3408" y="4489704"/>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GROUP BY / HAVING / ORDER BY</a:t>
            </a:r>
          </a:p>
        </p:txBody>
      </p:sp>
      <p:sp>
        <p:nvSpPr>
          <p:cNvPr id="32" name="Rounded Rectangle 31"/>
          <p:cNvSpPr/>
          <p:nvPr/>
        </p:nvSpPr>
        <p:spPr>
          <a:xfrm>
            <a:off x="530352" y="5175504"/>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8368" y="5294376"/>
            <a:ext cx="310896" cy="310896"/>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5330952"/>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Window Function – RANK()</a:t>
            </a:r>
          </a:p>
        </p:txBody>
      </p:sp>
      <p:sp>
        <p:nvSpPr>
          <p:cNvPr id="35" name="Rounded Rectangle 34"/>
          <p:cNvSpPr/>
          <p:nvPr/>
        </p:nvSpPr>
        <p:spPr>
          <a:xfrm>
            <a:off x="6126480" y="5175504"/>
            <a:ext cx="5230368" cy="566928"/>
          </a:xfrm>
          <a:prstGeom prst="roundRect">
            <a:avLst/>
          </a:prstGeom>
          <a:solidFill>
            <a:srgbClr val="131A24"/>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54496" y="5294376"/>
            <a:ext cx="310896" cy="310896"/>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5330952"/>
            <a:ext cx="4462272" cy="228600"/>
          </a:xfrm>
          <a:prstGeom prst="rect">
            <a:avLst/>
          </a:prstGeom>
          <a:noFill/>
        </p:spPr>
        <p:txBody>
          <a:bodyPr wrap="none" lIns="18288" rIns="18288" tIns="18288" bIns="18288" anchor="t">
            <a:spAutoFit/>
          </a:bodyPr>
          <a:lstStyle/>
          <a:p>
            <a:pPr algn="l"/>
            <a:r>
              <a:rPr sz="1050" b="1">
                <a:solidFill>
                  <a:srgbClr val="F5F7FA"/>
                </a:solidFill>
                <a:latin typeface="Aptos"/>
              </a:rPr>
              <a:t>Database Normalization – 3NF</a:t>
            </a:r>
          </a:p>
        </p:txBody>
      </p:sp>
      <p:sp>
        <p:nvSpPr>
          <p:cNvPr id="38" name="TextBox 37"/>
          <p:cNvSpPr txBox="1"/>
          <p:nvPr/>
        </p:nvSpPr>
        <p:spPr>
          <a:xfrm>
            <a:off x="1188720" y="6080760"/>
            <a:ext cx="9784080" cy="274320"/>
          </a:xfrm>
          <a:prstGeom prst="rect">
            <a:avLst/>
          </a:prstGeom>
          <a:noFill/>
        </p:spPr>
        <p:txBody>
          <a:bodyPr wrap="none" lIns="18288" rIns="18288" tIns="18288" bIns="18288" anchor="t">
            <a:spAutoFit/>
          </a:bodyPr>
          <a:lstStyle/>
          <a:p>
            <a:pPr algn="ctr"/>
            <a:r>
              <a:rPr sz="1200" b="1">
                <a:solidFill>
                  <a:srgbClr val="FF9900"/>
                </a:solidFill>
                <a:latin typeface="Aptos"/>
              </a:rPr>
              <a:t>Focus: reliable queries + structured data + actionable analysis</a:t>
            </a:r>
          </a:p>
        </p:txBody>
      </p:sp>
      <p:sp>
        <p:nvSpPr>
          <p:cNvPr id="39" name="Rectangle 38"/>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41" name="TextBox 40"/>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DATASET</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08</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30352" y="1417320"/>
            <a:ext cx="5230368" cy="109728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600200"/>
            <a:ext cx="4800600" cy="256032"/>
          </a:xfrm>
          <a:prstGeom prst="rect">
            <a:avLst/>
          </a:prstGeom>
          <a:noFill/>
        </p:spPr>
        <p:txBody>
          <a:bodyPr wrap="none" lIns="18288" rIns="18288" tIns="18288" bIns="18288" anchor="t">
            <a:spAutoFit/>
          </a:bodyPr>
          <a:lstStyle/>
          <a:p>
            <a:pPr algn="l"/>
            <a:r>
              <a:rPr sz="1200" b="1">
                <a:solidFill>
                  <a:srgbClr val="FF9900"/>
                </a:solidFill>
                <a:latin typeface="Aptos"/>
              </a:rPr>
              <a:t>CUSTOMERS</a:t>
            </a:r>
          </a:p>
        </p:txBody>
      </p:sp>
      <p:sp>
        <p:nvSpPr>
          <p:cNvPr id="9" name="TextBox 8"/>
          <p:cNvSpPr txBox="1"/>
          <p:nvPr/>
        </p:nvSpPr>
        <p:spPr>
          <a:xfrm>
            <a:off x="731519" y="1947672"/>
            <a:ext cx="4800600" cy="384048"/>
          </a:xfrm>
          <a:prstGeom prst="rect">
            <a:avLst/>
          </a:prstGeom>
          <a:noFill/>
        </p:spPr>
        <p:txBody>
          <a:bodyPr wrap="none" lIns="18288" rIns="18288" tIns="18288" bIns="18288" anchor="t">
            <a:spAutoFit/>
          </a:bodyPr>
          <a:lstStyle/>
          <a:p>
            <a:pPr algn="l"/>
            <a:r>
              <a:rPr sz="969" b="0">
                <a:solidFill>
                  <a:srgbClr val="A5B1BF"/>
                </a:solidFill>
                <a:latin typeface="Aptos"/>
              </a:rPr>
              <a:t>Customer details, city, age and Prime membership.</a:t>
            </a:r>
          </a:p>
        </p:txBody>
      </p:sp>
      <p:sp>
        <p:nvSpPr>
          <p:cNvPr id="10" name="Rounded Rectangle 9"/>
          <p:cNvSpPr/>
          <p:nvPr/>
        </p:nvSpPr>
        <p:spPr>
          <a:xfrm>
            <a:off x="6126480" y="1417320"/>
            <a:ext cx="5230368" cy="109728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1600200"/>
            <a:ext cx="4800600" cy="256032"/>
          </a:xfrm>
          <a:prstGeom prst="rect">
            <a:avLst/>
          </a:prstGeom>
          <a:noFill/>
        </p:spPr>
        <p:txBody>
          <a:bodyPr wrap="none" lIns="18288" rIns="18288" tIns="18288" bIns="18288" anchor="t">
            <a:spAutoFit/>
          </a:bodyPr>
          <a:lstStyle/>
          <a:p>
            <a:pPr algn="l"/>
            <a:r>
              <a:rPr sz="1200" b="1">
                <a:solidFill>
                  <a:srgbClr val="2FA4FF"/>
                </a:solidFill>
                <a:latin typeface="Aptos"/>
              </a:rPr>
              <a:t>ORDERS</a:t>
            </a:r>
          </a:p>
        </p:txBody>
      </p:sp>
      <p:sp>
        <p:nvSpPr>
          <p:cNvPr id="12" name="TextBox 11"/>
          <p:cNvSpPr txBox="1"/>
          <p:nvPr/>
        </p:nvSpPr>
        <p:spPr>
          <a:xfrm>
            <a:off x="6327648" y="1947672"/>
            <a:ext cx="4800600" cy="384048"/>
          </a:xfrm>
          <a:prstGeom prst="rect">
            <a:avLst/>
          </a:prstGeom>
          <a:noFill/>
        </p:spPr>
        <p:txBody>
          <a:bodyPr wrap="none" lIns="18288" rIns="18288" tIns="18288" bIns="18288" anchor="t">
            <a:spAutoFit/>
          </a:bodyPr>
          <a:lstStyle/>
          <a:p>
            <a:pPr algn="l"/>
            <a:r>
              <a:rPr sz="969" b="0">
                <a:solidFill>
                  <a:srgbClr val="A5B1BF"/>
                </a:solidFill>
                <a:latin typeface="Aptos"/>
              </a:rPr>
              <a:t>Order ID, customer ID, order date, order amount, delivery fee and discount.</a:t>
            </a:r>
          </a:p>
        </p:txBody>
      </p:sp>
      <p:sp>
        <p:nvSpPr>
          <p:cNvPr id="13" name="Rounded Rectangle 12"/>
          <p:cNvSpPr/>
          <p:nvPr/>
        </p:nvSpPr>
        <p:spPr>
          <a:xfrm>
            <a:off x="530352" y="2834640"/>
            <a:ext cx="5230368" cy="109728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19" y="3017520"/>
            <a:ext cx="4800600" cy="256032"/>
          </a:xfrm>
          <a:prstGeom prst="rect">
            <a:avLst/>
          </a:prstGeom>
          <a:noFill/>
        </p:spPr>
        <p:txBody>
          <a:bodyPr wrap="none" lIns="18288" rIns="18288" tIns="18288" bIns="18288" anchor="t">
            <a:spAutoFit/>
          </a:bodyPr>
          <a:lstStyle/>
          <a:p>
            <a:pPr algn="l"/>
            <a:r>
              <a:rPr sz="1200" b="1">
                <a:solidFill>
                  <a:srgbClr val="FF9900"/>
                </a:solidFill>
                <a:latin typeface="Aptos"/>
              </a:rPr>
              <a:t>ORDER DETAILS</a:t>
            </a:r>
          </a:p>
        </p:txBody>
      </p:sp>
      <p:sp>
        <p:nvSpPr>
          <p:cNvPr id="15" name="TextBox 14"/>
          <p:cNvSpPr txBox="1"/>
          <p:nvPr/>
        </p:nvSpPr>
        <p:spPr>
          <a:xfrm>
            <a:off x="731519" y="3364992"/>
            <a:ext cx="4800600" cy="384048"/>
          </a:xfrm>
          <a:prstGeom prst="rect">
            <a:avLst/>
          </a:prstGeom>
          <a:noFill/>
        </p:spPr>
        <p:txBody>
          <a:bodyPr wrap="none" lIns="18288" rIns="18288" tIns="18288" bIns="18288" anchor="t">
            <a:spAutoFit/>
          </a:bodyPr>
          <a:lstStyle/>
          <a:p>
            <a:pPr algn="l"/>
            <a:r>
              <a:rPr sz="969" b="0">
                <a:solidFill>
                  <a:srgbClr val="A5B1BF"/>
                </a:solidFill>
                <a:latin typeface="Aptos"/>
              </a:rPr>
              <a:t>Product ID, quantity, unit price and discount for each order.</a:t>
            </a:r>
          </a:p>
        </p:txBody>
      </p:sp>
      <p:sp>
        <p:nvSpPr>
          <p:cNvPr id="16" name="Rounded Rectangle 15"/>
          <p:cNvSpPr/>
          <p:nvPr/>
        </p:nvSpPr>
        <p:spPr>
          <a:xfrm>
            <a:off x="6126480" y="2834640"/>
            <a:ext cx="5230368" cy="109728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3017520"/>
            <a:ext cx="4800600" cy="256032"/>
          </a:xfrm>
          <a:prstGeom prst="rect">
            <a:avLst/>
          </a:prstGeom>
          <a:noFill/>
        </p:spPr>
        <p:txBody>
          <a:bodyPr wrap="none" lIns="18288" rIns="18288" tIns="18288" bIns="18288" anchor="t">
            <a:spAutoFit/>
          </a:bodyPr>
          <a:lstStyle/>
          <a:p>
            <a:pPr algn="l"/>
            <a:r>
              <a:rPr sz="1200" b="1">
                <a:solidFill>
                  <a:srgbClr val="2FA4FF"/>
                </a:solidFill>
                <a:latin typeface="Aptos"/>
              </a:rPr>
              <a:t>PRODUCTS</a:t>
            </a:r>
          </a:p>
        </p:txBody>
      </p:sp>
      <p:sp>
        <p:nvSpPr>
          <p:cNvPr id="18" name="TextBox 17"/>
          <p:cNvSpPr txBox="1"/>
          <p:nvPr/>
        </p:nvSpPr>
        <p:spPr>
          <a:xfrm>
            <a:off x="6327648" y="3364992"/>
            <a:ext cx="4800600" cy="384048"/>
          </a:xfrm>
          <a:prstGeom prst="rect">
            <a:avLst/>
          </a:prstGeom>
          <a:noFill/>
        </p:spPr>
        <p:txBody>
          <a:bodyPr wrap="none" lIns="18288" rIns="18288" tIns="18288" bIns="18288" anchor="t">
            <a:spAutoFit/>
          </a:bodyPr>
          <a:lstStyle/>
          <a:p>
            <a:pPr algn="l"/>
            <a:r>
              <a:rPr sz="969" b="0">
                <a:solidFill>
                  <a:srgbClr val="A5B1BF"/>
                </a:solidFill>
                <a:latin typeface="Aptos"/>
              </a:rPr>
              <a:t>Product name, category, subcategory, price, stock quantity and supplier.</a:t>
            </a:r>
          </a:p>
        </p:txBody>
      </p:sp>
      <p:sp>
        <p:nvSpPr>
          <p:cNvPr id="19" name="Rounded Rectangle 18"/>
          <p:cNvSpPr/>
          <p:nvPr/>
        </p:nvSpPr>
        <p:spPr>
          <a:xfrm>
            <a:off x="530352" y="4251960"/>
            <a:ext cx="5230368" cy="109728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19" y="4434840"/>
            <a:ext cx="4800600" cy="256032"/>
          </a:xfrm>
          <a:prstGeom prst="rect">
            <a:avLst/>
          </a:prstGeom>
          <a:noFill/>
        </p:spPr>
        <p:txBody>
          <a:bodyPr wrap="none" lIns="18288" rIns="18288" tIns="18288" bIns="18288" anchor="t">
            <a:spAutoFit/>
          </a:bodyPr>
          <a:lstStyle/>
          <a:p>
            <a:pPr algn="l"/>
            <a:r>
              <a:rPr sz="1200" b="1">
                <a:solidFill>
                  <a:srgbClr val="FF9900"/>
                </a:solidFill>
                <a:latin typeface="Aptos"/>
              </a:rPr>
              <a:t>REVIEWS</a:t>
            </a:r>
          </a:p>
        </p:txBody>
      </p:sp>
      <p:sp>
        <p:nvSpPr>
          <p:cNvPr id="21" name="TextBox 20"/>
          <p:cNvSpPr txBox="1"/>
          <p:nvPr/>
        </p:nvSpPr>
        <p:spPr>
          <a:xfrm>
            <a:off x="731519" y="4782312"/>
            <a:ext cx="4800600" cy="384048"/>
          </a:xfrm>
          <a:prstGeom prst="rect">
            <a:avLst/>
          </a:prstGeom>
          <a:noFill/>
        </p:spPr>
        <p:txBody>
          <a:bodyPr wrap="none" lIns="18288" rIns="18288" tIns="18288" bIns="18288" anchor="t">
            <a:spAutoFit/>
          </a:bodyPr>
          <a:lstStyle/>
          <a:p>
            <a:pPr algn="l"/>
            <a:r>
              <a:rPr sz="969" b="0">
                <a:solidFill>
                  <a:srgbClr val="A5B1BF"/>
                </a:solidFill>
                <a:latin typeface="Aptos"/>
              </a:rPr>
              <a:t>Product ratings used for rating analysis.</a:t>
            </a:r>
          </a:p>
        </p:txBody>
      </p:sp>
      <p:sp>
        <p:nvSpPr>
          <p:cNvPr id="22" name="Rounded Rectangle 21"/>
          <p:cNvSpPr/>
          <p:nvPr/>
        </p:nvSpPr>
        <p:spPr>
          <a:xfrm>
            <a:off x="6126480" y="4251960"/>
            <a:ext cx="5230368" cy="1097280"/>
          </a:xfrm>
          <a:prstGeom prst="roundRect">
            <a:avLst/>
          </a:prstGeom>
          <a:solidFill>
            <a:srgbClr val="0F151E"/>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4434840"/>
            <a:ext cx="4800600" cy="256032"/>
          </a:xfrm>
          <a:prstGeom prst="rect">
            <a:avLst/>
          </a:prstGeom>
          <a:noFill/>
        </p:spPr>
        <p:txBody>
          <a:bodyPr wrap="none" lIns="18288" rIns="18288" tIns="18288" bIns="18288" anchor="t">
            <a:spAutoFit/>
          </a:bodyPr>
          <a:lstStyle/>
          <a:p>
            <a:pPr algn="l"/>
            <a:r>
              <a:rPr sz="1200" b="1">
                <a:solidFill>
                  <a:srgbClr val="2FA4FF"/>
                </a:solidFill>
                <a:latin typeface="Aptos"/>
              </a:rPr>
              <a:t>SUPPLIERS</a:t>
            </a:r>
          </a:p>
        </p:txBody>
      </p:sp>
      <p:sp>
        <p:nvSpPr>
          <p:cNvPr id="24" name="TextBox 23"/>
          <p:cNvSpPr txBox="1"/>
          <p:nvPr/>
        </p:nvSpPr>
        <p:spPr>
          <a:xfrm>
            <a:off x="6327648" y="4782312"/>
            <a:ext cx="4800600" cy="384048"/>
          </a:xfrm>
          <a:prstGeom prst="rect">
            <a:avLst/>
          </a:prstGeom>
          <a:noFill/>
        </p:spPr>
        <p:txBody>
          <a:bodyPr wrap="none" lIns="18288" rIns="18288" tIns="18288" bIns="18288" anchor="t">
            <a:spAutoFit/>
          </a:bodyPr>
          <a:lstStyle/>
          <a:p>
            <a:pPr algn="l"/>
            <a:r>
              <a:rPr sz="969" b="0">
                <a:solidFill>
                  <a:srgbClr val="A5B1BF"/>
                </a:solidFill>
                <a:latin typeface="Aptos"/>
              </a:rPr>
              <a:t>Supplier information used for supplier-related analysis.</a:t>
            </a:r>
          </a:p>
        </p:txBody>
      </p:sp>
      <p:sp>
        <p:nvSpPr>
          <p:cNvPr id="25" name="TextBox 24"/>
          <p:cNvSpPr txBox="1"/>
          <p:nvPr/>
        </p:nvSpPr>
        <p:spPr>
          <a:xfrm>
            <a:off x="548640" y="5989320"/>
            <a:ext cx="2743200" cy="292608"/>
          </a:xfrm>
          <a:prstGeom prst="rect">
            <a:avLst/>
          </a:prstGeom>
          <a:noFill/>
        </p:spPr>
        <p:txBody>
          <a:bodyPr wrap="none" lIns="18288" rIns="18288" tIns="18288" bIns="18288" anchor="t">
            <a:spAutoFit/>
          </a:bodyPr>
          <a:lstStyle/>
          <a:p>
            <a:pPr algn="l"/>
            <a:r>
              <a:rPr sz="1200" b="1">
                <a:solidFill>
                  <a:srgbClr val="F5F7FA"/>
                </a:solidFill>
                <a:latin typeface="Aptos"/>
              </a:rPr>
              <a:t>Database: Amazon</a:t>
            </a:r>
          </a:p>
        </p:txBody>
      </p:sp>
      <p:sp>
        <p:nvSpPr>
          <p:cNvPr id="26" name="TextBox 25"/>
          <p:cNvSpPr txBox="1"/>
          <p:nvPr/>
        </p:nvSpPr>
        <p:spPr>
          <a:xfrm>
            <a:off x="3657600" y="5989320"/>
            <a:ext cx="7589520" cy="292608"/>
          </a:xfrm>
          <a:prstGeom prst="rect">
            <a:avLst/>
          </a:prstGeom>
          <a:noFill/>
        </p:spPr>
        <p:txBody>
          <a:bodyPr wrap="none" lIns="18288" rIns="18288" tIns="18288" bIns="18288" anchor="t">
            <a:spAutoFit/>
          </a:bodyPr>
          <a:lstStyle/>
          <a:p>
            <a:pPr algn="r"/>
            <a:r>
              <a:rPr sz="1050" b="1">
                <a:solidFill>
                  <a:srgbClr val="A5B1BF"/>
                </a:solidFill>
                <a:latin typeface="Aptos"/>
              </a:rPr>
              <a:t>6 core entities support customer, transaction, product and review analysis.</a:t>
            </a:r>
          </a:p>
        </p:txBody>
      </p:sp>
      <p:sp>
        <p:nvSpPr>
          <p:cNvPr id="27" name="Rectangle 26"/>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29" name="TextBox 28"/>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4114800" cy="274320"/>
          </a:xfrm>
          <a:prstGeom prst="rect">
            <a:avLst/>
          </a:prstGeom>
          <a:noFill/>
        </p:spPr>
        <p:txBody>
          <a:bodyPr wrap="none" lIns="18288" rIns="18288" tIns="18288" bIns="18288" anchor="t">
            <a:spAutoFit/>
          </a:bodyPr>
          <a:lstStyle/>
          <a:p>
            <a:pPr algn="l"/>
            <a:r>
              <a:rPr sz="950" b="1">
                <a:solidFill>
                  <a:srgbClr val="FF9900"/>
                </a:solidFill>
                <a:latin typeface="Aptos"/>
              </a:rPr>
              <a:t>AMAZON FRESH ANALYTICS</a:t>
            </a:r>
          </a:p>
        </p:txBody>
      </p:sp>
      <p:sp>
        <p:nvSpPr>
          <p:cNvPr id="4" name="TextBox 3"/>
          <p:cNvSpPr txBox="1"/>
          <p:nvPr/>
        </p:nvSpPr>
        <p:spPr>
          <a:xfrm>
            <a:off x="502920" y="457200"/>
            <a:ext cx="7680960" cy="438912"/>
          </a:xfrm>
          <a:prstGeom prst="rect">
            <a:avLst/>
          </a:prstGeom>
          <a:noFill/>
        </p:spPr>
        <p:txBody>
          <a:bodyPr wrap="none" lIns="18288" rIns="18288" tIns="18288" bIns="18288" anchor="t">
            <a:spAutoFit/>
          </a:bodyPr>
          <a:lstStyle/>
          <a:p>
            <a:pPr algn="l"/>
            <a:r>
              <a:rPr sz="2300" b="1">
                <a:solidFill>
                  <a:srgbClr val="F5F7FA"/>
                </a:solidFill>
                <a:latin typeface="Aptos"/>
              </a:rPr>
              <a:t>Professional Power BI Dashboard</a:t>
            </a:r>
          </a:p>
        </p:txBody>
      </p:sp>
      <p:sp>
        <p:nvSpPr>
          <p:cNvPr id="5" name="TextBox 4"/>
          <p:cNvSpPr txBox="1"/>
          <p:nvPr/>
        </p:nvSpPr>
        <p:spPr>
          <a:xfrm>
            <a:off x="530352" y="859536"/>
            <a:ext cx="6949440" cy="228600"/>
          </a:xfrm>
          <a:prstGeom prst="rect">
            <a:avLst/>
          </a:prstGeom>
          <a:noFill/>
        </p:spPr>
        <p:txBody>
          <a:bodyPr wrap="none" lIns="18288" rIns="18288" tIns="18288" bIns="18288" anchor="t">
            <a:spAutoFit/>
          </a:bodyPr>
          <a:lstStyle/>
          <a:p>
            <a:pPr algn="l"/>
            <a:r>
              <a:rPr sz="950" b="0">
                <a:solidFill>
                  <a:srgbClr val="A5B1BF"/>
                </a:solidFill>
                <a:latin typeface="Aptos"/>
              </a:rPr>
              <a:t>Executive overview • KPI monitoring • interactive business analysis</a:t>
            </a:r>
          </a:p>
        </p:txBody>
      </p:sp>
      <p:sp>
        <p:nvSpPr>
          <p:cNvPr id="6" name="TextBox 5"/>
          <p:cNvSpPr txBox="1"/>
          <p:nvPr/>
        </p:nvSpPr>
        <p:spPr>
          <a:xfrm>
            <a:off x="8549640" y="548640"/>
            <a:ext cx="3063240" cy="256032"/>
          </a:xfrm>
          <a:prstGeom prst="rect">
            <a:avLst/>
          </a:prstGeom>
          <a:noFill/>
        </p:spPr>
        <p:txBody>
          <a:bodyPr wrap="none" lIns="18288" rIns="18288" tIns="18288" bIns="18288" anchor="t">
            <a:spAutoFit/>
          </a:bodyPr>
          <a:lstStyle/>
          <a:p>
            <a:pPr algn="r"/>
            <a:r>
              <a:rPr sz="950" b="1">
                <a:solidFill>
                  <a:srgbClr val="FF9900"/>
                </a:solidFill>
                <a:latin typeface="Aptos"/>
              </a:rPr>
              <a:t>Presented by Kavinprasath.R</a:t>
            </a:r>
          </a:p>
        </p:txBody>
      </p:sp>
      <p:sp>
        <p:nvSpPr>
          <p:cNvPr id="7" name="Rounded Rectangle 6"/>
          <p:cNvSpPr/>
          <p:nvPr/>
        </p:nvSpPr>
        <p:spPr>
          <a:xfrm>
            <a:off x="347472" y="1234440"/>
            <a:ext cx="11503152" cy="5413248"/>
          </a:xfrm>
          <a:prstGeom prst="roundRect">
            <a:avLst/>
          </a:prstGeom>
          <a:solidFill>
            <a:srgbClr val="030509"/>
          </a:solidFill>
          <a:ln w="12700">
            <a:solidFill>
              <a:srgbClr val="3541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ide_high_resolution_infographic_dashboard_screen.png"/>
          <p:cNvPicPr>
            <a:picLocks noChangeAspect="1"/>
          </p:cNvPicPr>
          <p:nvPr/>
        </p:nvPicPr>
        <p:blipFill>
          <a:blip r:embed="rId2"/>
          <a:stretch>
            <a:fillRect/>
          </a:stretch>
        </p:blipFill>
        <p:spPr>
          <a:xfrm>
            <a:off x="438912" y="1325880"/>
            <a:ext cx="11320272" cy="5102352"/>
          </a:xfrm>
          <a:prstGeom prst="rect">
            <a:avLst/>
          </a:prstGeom>
        </p:spPr>
      </p:pic>
      <p:sp>
        <p:nvSpPr>
          <p:cNvPr id="9" name="TextBox 8"/>
          <p:cNvSpPr txBox="1"/>
          <p:nvPr/>
        </p:nvSpPr>
        <p:spPr>
          <a:xfrm>
            <a:off x="548640" y="6492240"/>
            <a:ext cx="2011680" cy="164592"/>
          </a:xfrm>
          <a:prstGeom prst="rect">
            <a:avLst/>
          </a:prstGeom>
          <a:noFill/>
        </p:spPr>
        <p:txBody>
          <a:bodyPr wrap="none" lIns="18288" rIns="18288" tIns="18288" bIns="18288" anchor="t">
            <a:spAutoFit/>
          </a:bodyPr>
          <a:lstStyle/>
          <a:p>
            <a:pPr algn="l"/>
            <a:r>
              <a:rPr sz="750" b="1">
                <a:solidFill>
                  <a:srgbClr val="A5B1BF"/>
                </a:solidFill>
                <a:latin typeface="Aptos"/>
              </a:rPr>
              <a:t>Dashboard Overview</a:t>
            </a:r>
          </a:p>
        </p:txBody>
      </p:sp>
      <p:sp>
        <p:nvSpPr>
          <p:cNvPr id="10" name="TextBox 9"/>
          <p:cNvSpPr txBox="1"/>
          <p:nvPr/>
        </p:nvSpPr>
        <p:spPr>
          <a:xfrm>
            <a:off x="3657600" y="6492240"/>
            <a:ext cx="7589520" cy="164592"/>
          </a:xfrm>
          <a:prstGeom prst="rect">
            <a:avLst/>
          </a:prstGeom>
          <a:noFill/>
        </p:spPr>
        <p:txBody>
          <a:bodyPr wrap="none" lIns="18288" rIns="18288" tIns="18288" bIns="18288" anchor="t">
            <a:spAutoFit/>
          </a:bodyPr>
          <a:lstStyle/>
          <a:p>
            <a:pPr algn="r"/>
            <a:r>
              <a:rPr sz="750" b="1">
                <a:solidFill>
                  <a:srgbClr val="A5B1BF"/>
                </a:solidFill>
                <a:latin typeface="Aptos"/>
              </a:rPr>
              <a:t>Amazon Retail Performance • Sales • Products • Customers • Inventory • Ratings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A10"/>
        </a:solidFill>
        <a:effectLst/>
      </p:bgPr>
    </p:bg>
    <p:spTree>
      <p:nvGrpSpPr>
        <p:cNvPr id="1" name=""/>
        <p:cNvGrpSpPr/>
        <p:nvPr/>
      </p:nvGrpSpPr>
      <p:grpSpPr/>
      <p:sp>
        <p:nvSpPr>
          <p:cNvPr id="2" name="Rectangle 1"/>
          <p:cNvSpPr/>
          <p:nvPr/>
        </p:nvSpPr>
        <p:spPr>
          <a:xfrm>
            <a:off x="0" y="0"/>
            <a:ext cx="12191695" cy="685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4114800" cy="320040"/>
          </a:xfrm>
          <a:prstGeom prst="rect">
            <a:avLst/>
          </a:prstGeom>
          <a:noFill/>
        </p:spPr>
        <p:txBody>
          <a:bodyPr wrap="none" lIns="18288" rIns="18288" tIns="18288" bIns="18288" anchor="t">
            <a:spAutoFit/>
          </a:bodyPr>
          <a:lstStyle/>
          <a:p>
            <a:pPr algn="l"/>
            <a:r>
              <a:rPr sz="1000" b="1">
                <a:solidFill>
                  <a:srgbClr val="FF9900"/>
                </a:solidFill>
                <a:latin typeface="Aptos"/>
              </a:rPr>
              <a:t>AMAZON FRESH ANALYTICS</a:t>
            </a:r>
          </a:p>
        </p:txBody>
      </p:sp>
      <p:sp>
        <p:nvSpPr>
          <p:cNvPr id="4" name="TextBox 3"/>
          <p:cNvSpPr txBox="1"/>
          <p:nvPr/>
        </p:nvSpPr>
        <p:spPr>
          <a:xfrm>
            <a:off x="502920" y="566928"/>
            <a:ext cx="8869680" cy="475488"/>
          </a:xfrm>
          <a:prstGeom prst="rect">
            <a:avLst/>
          </a:prstGeom>
          <a:noFill/>
        </p:spPr>
        <p:txBody>
          <a:bodyPr wrap="none" lIns="18288" rIns="18288" tIns="18288" bIns="18288" anchor="t">
            <a:spAutoFit/>
          </a:bodyPr>
          <a:lstStyle/>
          <a:p>
            <a:pPr algn="l"/>
            <a:r>
              <a:rPr sz="2500" b="1">
                <a:solidFill>
                  <a:srgbClr val="F5F7FA"/>
                </a:solidFill>
                <a:latin typeface="Aptos"/>
              </a:rPr>
              <a:t>CONCLUSION</a:t>
            </a:r>
          </a:p>
        </p:txBody>
      </p:sp>
      <p:sp>
        <p:nvSpPr>
          <p:cNvPr id="5" name="TextBox 4"/>
          <p:cNvSpPr txBox="1"/>
          <p:nvPr/>
        </p:nvSpPr>
        <p:spPr>
          <a:xfrm>
            <a:off x="11109960" y="310896"/>
            <a:ext cx="502920" cy="274320"/>
          </a:xfrm>
          <a:prstGeom prst="rect">
            <a:avLst/>
          </a:prstGeom>
          <a:noFill/>
        </p:spPr>
        <p:txBody>
          <a:bodyPr wrap="none" lIns="18288" rIns="18288" tIns="18288" bIns="18288" anchor="t">
            <a:spAutoFit/>
          </a:bodyPr>
          <a:lstStyle/>
          <a:p>
            <a:pPr algn="r"/>
            <a:r>
              <a:rPr sz="1100" b="1">
                <a:solidFill>
                  <a:srgbClr val="A5B1BF"/>
                </a:solidFill>
                <a:latin typeface="Aptos"/>
              </a:rPr>
              <a:t>10</a:t>
            </a:r>
          </a:p>
        </p:txBody>
      </p:sp>
      <p:sp>
        <p:nvSpPr>
          <p:cNvPr id="6" name="Rectangle 5"/>
          <p:cNvSpPr/>
          <p:nvPr/>
        </p:nvSpPr>
        <p:spPr>
          <a:xfrm>
            <a:off x="502920" y="1097280"/>
            <a:ext cx="11183112" cy="13716"/>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53312"/>
            <a:ext cx="5029200" cy="320040"/>
          </a:xfrm>
          <a:prstGeom prst="rect">
            <a:avLst/>
          </a:prstGeom>
          <a:noFill/>
        </p:spPr>
        <p:txBody>
          <a:bodyPr wrap="none" lIns="18288" rIns="18288" tIns="18288" bIns="18288" anchor="t">
            <a:spAutoFit/>
          </a:bodyPr>
          <a:lstStyle/>
          <a:p>
            <a:pPr algn="l"/>
            <a:r>
              <a:rPr sz="1400" b="1">
                <a:solidFill>
                  <a:srgbClr val="F5F7FA"/>
                </a:solidFill>
                <a:latin typeface="Aptos"/>
              </a:rPr>
              <a:t>What the project demonstrates</a:t>
            </a:r>
          </a:p>
        </p:txBody>
      </p:sp>
      <p:sp>
        <p:nvSpPr>
          <p:cNvPr id="8" name="Rounded Rectangle 7"/>
          <p:cNvSpPr/>
          <p:nvPr/>
        </p:nvSpPr>
        <p:spPr>
          <a:xfrm>
            <a:off x="566928" y="1810512"/>
            <a:ext cx="438912" cy="438912"/>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938528"/>
            <a:ext cx="438912" cy="164592"/>
          </a:xfrm>
          <a:prstGeom prst="rect">
            <a:avLst/>
          </a:prstGeom>
          <a:noFill/>
        </p:spPr>
        <p:txBody>
          <a:bodyPr wrap="none" lIns="18288" rIns="18288" tIns="18288" bIns="18288" anchor="t">
            <a:spAutoFit/>
          </a:bodyPr>
          <a:lstStyle/>
          <a:p>
            <a:pPr algn="ctr"/>
            <a:r>
              <a:rPr sz="850" b="1">
                <a:solidFill>
                  <a:srgbClr val="070A10"/>
                </a:solidFill>
                <a:latin typeface="Aptos"/>
              </a:rPr>
              <a:t>01</a:t>
            </a:r>
          </a:p>
        </p:txBody>
      </p:sp>
      <p:sp>
        <p:nvSpPr>
          <p:cNvPr id="10" name="TextBox 9"/>
          <p:cNvSpPr txBox="1"/>
          <p:nvPr/>
        </p:nvSpPr>
        <p:spPr>
          <a:xfrm>
            <a:off x="1188720" y="1801368"/>
            <a:ext cx="10058400" cy="502920"/>
          </a:xfrm>
          <a:prstGeom prst="rect">
            <a:avLst/>
          </a:prstGeom>
          <a:noFill/>
        </p:spPr>
        <p:txBody>
          <a:bodyPr wrap="none" lIns="18288" rIns="18288" tIns="18288" bIns="18288" anchor="t">
            <a:spAutoFit/>
          </a:bodyPr>
          <a:lstStyle/>
          <a:p>
            <a:pPr algn="l"/>
            <a:r>
              <a:rPr sz="1120" b="0">
                <a:solidFill>
                  <a:srgbClr val="F5F7FA"/>
                </a:solidFill>
                <a:latin typeface="Aptos"/>
              </a:rPr>
              <a:t>SQL can transform raw e-commerce data into useful business insights.</a:t>
            </a:r>
          </a:p>
        </p:txBody>
      </p:sp>
      <p:sp>
        <p:nvSpPr>
          <p:cNvPr id="11" name="Rounded Rectangle 10"/>
          <p:cNvSpPr/>
          <p:nvPr/>
        </p:nvSpPr>
        <p:spPr>
          <a:xfrm>
            <a:off x="566928" y="2615184"/>
            <a:ext cx="438912" cy="438912"/>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743200"/>
            <a:ext cx="438912" cy="164592"/>
          </a:xfrm>
          <a:prstGeom prst="rect">
            <a:avLst/>
          </a:prstGeom>
          <a:noFill/>
        </p:spPr>
        <p:txBody>
          <a:bodyPr wrap="none" lIns="18288" rIns="18288" tIns="18288" bIns="18288" anchor="t">
            <a:spAutoFit/>
          </a:bodyPr>
          <a:lstStyle/>
          <a:p>
            <a:pPr algn="ctr"/>
            <a:r>
              <a:rPr sz="850" b="1">
                <a:solidFill>
                  <a:srgbClr val="070A10"/>
                </a:solidFill>
                <a:latin typeface="Aptos"/>
              </a:rPr>
              <a:t>02</a:t>
            </a:r>
          </a:p>
        </p:txBody>
      </p:sp>
      <p:sp>
        <p:nvSpPr>
          <p:cNvPr id="13" name="TextBox 12"/>
          <p:cNvSpPr txBox="1"/>
          <p:nvPr/>
        </p:nvSpPr>
        <p:spPr>
          <a:xfrm>
            <a:off x="1188720" y="2606040"/>
            <a:ext cx="10058400" cy="502920"/>
          </a:xfrm>
          <a:prstGeom prst="rect">
            <a:avLst/>
          </a:prstGeom>
          <a:noFill/>
        </p:spPr>
        <p:txBody>
          <a:bodyPr wrap="none" lIns="18288" rIns="18288" tIns="18288" bIns="18288" anchor="t">
            <a:spAutoFit/>
          </a:bodyPr>
          <a:lstStyle/>
          <a:p>
            <a:pPr algn="l"/>
            <a:r>
              <a:rPr sz="1120" b="0">
                <a:solidFill>
                  <a:srgbClr val="F5F7FA"/>
                </a:solidFill>
                <a:latin typeface="Aptos"/>
              </a:rPr>
              <a:t>SQL constraints and normalization improve data quality and database structure.</a:t>
            </a:r>
          </a:p>
        </p:txBody>
      </p:sp>
      <p:sp>
        <p:nvSpPr>
          <p:cNvPr id="14" name="Rounded Rectangle 13"/>
          <p:cNvSpPr/>
          <p:nvPr/>
        </p:nvSpPr>
        <p:spPr>
          <a:xfrm>
            <a:off x="566928" y="3419856"/>
            <a:ext cx="438912" cy="438912"/>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547872"/>
            <a:ext cx="438912" cy="164592"/>
          </a:xfrm>
          <a:prstGeom prst="rect">
            <a:avLst/>
          </a:prstGeom>
          <a:noFill/>
        </p:spPr>
        <p:txBody>
          <a:bodyPr wrap="none" lIns="18288" rIns="18288" tIns="18288" bIns="18288" anchor="t">
            <a:spAutoFit/>
          </a:bodyPr>
          <a:lstStyle/>
          <a:p>
            <a:pPr algn="ctr"/>
            <a:r>
              <a:rPr sz="850" b="1">
                <a:solidFill>
                  <a:srgbClr val="070A10"/>
                </a:solidFill>
                <a:latin typeface="Aptos"/>
              </a:rPr>
              <a:t>03</a:t>
            </a:r>
          </a:p>
        </p:txBody>
      </p:sp>
      <p:sp>
        <p:nvSpPr>
          <p:cNvPr id="16" name="TextBox 15"/>
          <p:cNvSpPr txBox="1"/>
          <p:nvPr/>
        </p:nvSpPr>
        <p:spPr>
          <a:xfrm>
            <a:off x="1188720" y="3410712"/>
            <a:ext cx="10058400" cy="502920"/>
          </a:xfrm>
          <a:prstGeom prst="rect">
            <a:avLst/>
          </a:prstGeom>
          <a:noFill/>
        </p:spPr>
        <p:txBody>
          <a:bodyPr wrap="none" lIns="18288" rIns="18288" tIns="18288" bIns="18288" anchor="t">
            <a:spAutoFit/>
          </a:bodyPr>
          <a:lstStyle/>
          <a:p>
            <a:pPr algn="l"/>
            <a:r>
              <a:rPr sz="1120" b="0">
                <a:solidFill>
                  <a:srgbClr val="F5F7FA"/>
                </a:solidFill>
                <a:latin typeface="Aptos"/>
              </a:rPr>
              <a:t>Joins, aggregations, subqueries and window functions support detailed business analysis.</a:t>
            </a:r>
          </a:p>
        </p:txBody>
      </p:sp>
      <p:sp>
        <p:nvSpPr>
          <p:cNvPr id="17" name="Rounded Rectangle 16"/>
          <p:cNvSpPr/>
          <p:nvPr/>
        </p:nvSpPr>
        <p:spPr>
          <a:xfrm>
            <a:off x="566928" y="4224528"/>
            <a:ext cx="438912" cy="438912"/>
          </a:xfrm>
          <a:prstGeom prst="roundRect">
            <a:avLst/>
          </a:prstGeom>
          <a:solidFill>
            <a:srgbClr val="2FA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352544"/>
            <a:ext cx="438912" cy="164592"/>
          </a:xfrm>
          <a:prstGeom prst="rect">
            <a:avLst/>
          </a:prstGeom>
          <a:noFill/>
        </p:spPr>
        <p:txBody>
          <a:bodyPr wrap="none" lIns="18288" rIns="18288" tIns="18288" bIns="18288" anchor="t">
            <a:spAutoFit/>
          </a:bodyPr>
          <a:lstStyle/>
          <a:p>
            <a:pPr algn="ctr"/>
            <a:r>
              <a:rPr sz="850" b="1">
                <a:solidFill>
                  <a:srgbClr val="070A10"/>
                </a:solidFill>
                <a:latin typeface="Aptos"/>
              </a:rPr>
              <a:t>04</a:t>
            </a:r>
          </a:p>
        </p:txBody>
      </p:sp>
      <p:sp>
        <p:nvSpPr>
          <p:cNvPr id="19" name="TextBox 18"/>
          <p:cNvSpPr txBox="1"/>
          <p:nvPr/>
        </p:nvSpPr>
        <p:spPr>
          <a:xfrm>
            <a:off x="1188720" y="4215384"/>
            <a:ext cx="10058400" cy="502920"/>
          </a:xfrm>
          <a:prstGeom prst="rect">
            <a:avLst/>
          </a:prstGeom>
          <a:noFill/>
        </p:spPr>
        <p:txBody>
          <a:bodyPr wrap="none" lIns="18288" rIns="18288" tIns="18288" bIns="18288" anchor="t">
            <a:spAutoFit/>
          </a:bodyPr>
          <a:lstStyle/>
          <a:p>
            <a:pPr algn="l"/>
            <a:r>
              <a:rPr sz="1120" b="0">
                <a:solidFill>
                  <a:srgbClr val="F5F7FA"/>
                </a:solidFill>
                <a:latin typeface="Aptos"/>
              </a:rPr>
              <a:t>The project identifies valuable customers, top products, popular categories and Prime-member concentrations.</a:t>
            </a:r>
          </a:p>
        </p:txBody>
      </p:sp>
      <p:sp>
        <p:nvSpPr>
          <p:cNvPr id="20" name="Rounded Rectangle 19"/>
          <p:cNvSpPr/>
          <p:nvPr/>
        </p:nvSpPr>
        <p:spPr>
          <a:xfrm>
            <a:off x="566928" y="5029200"/>
            <a:ext cx="438912" cy="438912"/>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5157216"/>
            <a:ext cx="438912" cy="164592"/>
          </a:xfrm>
          <a:prstGeom prst="rect">
            <a:avLst/>
          </a:prstGeom>
          <a:noFill/>
        </p:spPr>
        <p:txBody>
          <a:bodyPr wrap="none" lIns="18288" rIns="18288" tIns="18288" bIns="18288" anchor="t">
            <a:spAutoFit/>
          </a:bodyPr>
          <a:lstStyle/>
          <a:p>
            <a:pPr algn="ctr"/>
            <a:r>
              <a:rPr sz="850" b="1">
                <a:solidFill>
                  <a:srgbClr val="070A10"/>
                </a:solidFill>
                <a:latin typeface="Aptos"/>
              </a:rPr>
              <a:t>05</a:t>
            </a:r>
          </a:p>
        </p:txBody>
      </p:sp>
      <p:sp>
        <p:nvSpPr>
          <p:cNvPr id="22" name="TextBox 21"/>
          <p:cNvSpPr txBox="1"/>
          <p:nvPr/>
        </p:nvSpPr>
        <p:spPr>
          <a:xfrm>
            <a:off x="1188720" y="5020056"/>
            <a:ext cx="10058400" cy="502920"/>
          </a:xfrm>
          <a:prstGeom prst="rect">
            <a:avLst/>
          </a:prstGeom>
          <a:noFill/>
        </p:spPr>
        <p:txBody>
          <a:bodyPr wrap="none" lIns="18288" rIns="18288" tIns="18288" bIns="18288" anchor="t">
            <a:spAutoFit/>
          </a:bodyPr>
          <a:lstStyle/>
          <a:p>
            <a:pPr algn="l"/>
            <a:r>
              <a:rPr sz="1120" b="0">
                <a:solidFill>
                  <a:srgbClr val="F5F7FA"/>
                </a:solidFill>
                <a:latin typeface="Aptos"/>
              </a:rPr>
              <a:t>Overall, the analysis provides a strong foundation for data-driven decision-making in an e-commerce environment.</a:t>
            </a:r>
          </a:p>
        </p:txBody>
      </p:sp>
      <p:sp>
        <p:nvSpPr>
          <p:cNvPr id="23" name="Rounded Rectangle 22"/>
          <p:cNvSpPr/>
          <p:nvPr/>
        </p:nvSpPr>
        <p:spPr>
          <a:xfrm>
            <a:off x="530352" y="6016752"/>
            <a:ext cx="11082528" cy="384048"/>
          </a:xfrm>
          <a:prstGeom prst="roundRect">
            <a:avLst/>
          </a:prstGeom>
          <a:solidFill>
            <a:srgbClr val="131A24"/>
          </a:solidFill>
          <a:ln w="127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6108192"/>
            <a:ext cx="7315200" cy="201168"/>
          </a:xfrm>
          <a:prstGeom prst="rect">
            <a:avLst/>
          </a:prstGeom>
          <a:noFill/>
        </p:spPr>
        <p:txBody>
          <a:bodyPr wrap="none" lIns="18288" rIns="18288" tIns="18288" bIns="18288" anchor="t">
            <a:spAutoFit/>
          </a:bodyPr>
          <a:lstStyle/>
          <a:p>
            <a:pPr algn="l"/>
            <a:r>
              <a:rPr sz="1100" b="1">
                <a:solidFill>
                  <a:srgbClr val="F5F7FA"/>
                </a:solidFill>
                <a:latin typeface="Aptos"/>
              </a:rPr>
              <a:t>THANK YOU  •  Questions &amp; Discussion</a:t>
            </a:r>
          </a:p>
        </p:txBody>
      </p:sp>
      <p:sp>
        <p:nvSpPr>
          <p:cNvPr id="25" name="TextBox 24"/>
          <p:cNvSpPr txBox="1"/>
          <p:nvPr/>
        </p:nvSpPr>
        <p:spPr>
          <a:xfrm>
            <a:off x="8549640" y="6099048"/>
            <a:ext cx="2743200" cy="210312"/>
          </a:xfrm>
          <a:prstGeom prst="rect">
            <a:avLst/>
          </a:prstGeom>
          <a:noFill/>
        </p:spPr>
        <p:txBody>
          <a:bodyPr wrap="none" lIns="18288" rIns="18288" tIns="18288" bIns="18288" anchor="t">
            <a:spAutoFit/>
          </a:bodyPr>
          <a:lstStyle/>
          <a:p>
            <a:pPr algn="r"/>
            <a:r>
              <a:rPr sz="1100" b="1">
                <a:solidFill>
                  <a:srgbClr val="FF9900"/>
                </a:solidFill>
                <a:latin typeface="Aptos"/>
              </a:rPr>
              <a:t>Kavinprasath.R</a:t>
            </a:r>
          </a:p>
        </p:txBody>
      </p:sp>
      <p:sp>
        <p:nvSpPr>
          <p:cNvPr id="26" name="Rectangle 25"/>
          <p:cNvSpPr/>
          <p:nvPr/>
        </p:nvSpPr>
        <p:spPr>
          <a:xfrm>
            <a:off x="502920" y="6537960"/>
            <a:ext cx="11183112" cy="10972"/>
          </a:xfrm>
          <a:prstGeom prst="rect">
            <a:avLst/>
          </a:prstGeom>
          <a:solidFill>
            <a:srgbClr val="35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6601968"/>
            <a:ext cx="4754880" cy="164592"/>
          </a:xfrm>
          <a:prstGeom prst="rect">
            <a:avLst/>
          </a:prstGeom>
          <a:noFill/>
        </p:spPr>
        <p:txBody>
          <a:bodyPr wrap="none" lIns="18288" rIns="18288" tIns="18288" bIns="18288" anchor="t">
            <a:spAutoFit/>
          </a:bodyPr>
          <a:lstStyle/>
          <a:p>
            <a:pPr algn="l"/>
            <a:r>
              <a:rPr sz="750" b="1">
                <a:solidFill>
                  <a:srgbClr val="A5B1BF"/>
                </a:solidFill>
                <a:latin typeface="Aptos"/>
              </a:rPr>
              <a:t>SQL DATA ANALYSIS  •  POWER BI DASHBOARD</a:t>
            </a:r>
          </a:p>
        </p:txBody>
      </p:sp>
      <p:sp>
        <p:nvSpPr>
          <p:cNvPr id="28" name="TextBox 27"/>
          <p:cNvSpPr txBox="1"/>
          <p:nvPr/>
        </p:nvSpPr>
        <p:spPr>
          <a:xfrm>
            <a:off x="8412480" y="6565392"/>
            <a:ext cx="3246120" cy="228600"/>
          </a:xfrm>
          <a:prstGeom prst="rect">
            <a:avLst/>
          </a:prstGeom>
          <a:noFill/>
        </p:spPr>
        <p:txBody>
          <a:bodyPr wrap="none" lIns="18288" rIns="18288" tIns="18288" bIns="18288" anchor="t">
            <a:spAutoFit/>
          </a:bodyPr>
          <a:lstStyle/>
          <a:p>
            <a:pPr algn="r"/>
            <a:r>
              <a:rPr sz="850" b="1">
                <a:solidFill>
                  <a:srgbClr val="FF9900"/>
                </a:solidFill>
                <a:latin typeface="Aptos"/>
              </a:rPr>
              <a:t>Presented by Kavinprasath.R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